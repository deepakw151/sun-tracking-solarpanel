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09" r:id="rId1"/>
  </p:sldMasterIdLst>
  <p:notesMasterIdLst>
    <p:notesMasterId r:id="rId19"/>
  </p:notesMasterIdLst>
  <p:sldIdLst>
    <p:sldId id="286" r:id="rId2"/>
    <p:sldId id="287" r:id="rId3"/>
    <p:sldId id="289" r:id="rId4"/>
    <p:sldId id="257" r:id="rId5"/>
    <p:sldId id="258" r:id="rId6"/>
    <p:sldId id="260" r:id="rId7"/>
    <p:sldId id="290" r:id="rId8"/>
    <p:sldId id="261" r:id="rId9"/>
    <p:sldId id="288" r:id="rId10"/>
    <p:sldId id="291" r:id="rId11"/>
    <p:sldId id="262" r:id="rId12"/>
    <p:sldId id="294" r:id="rId13"/>
    <p:sldId id="263" r:id="rId14"/>
    <p:sldId id="264" r:id="rId15"/>
    <p:sldId id="292" r:id="rId16"/>
    <p:sldId id="293" r:id="rId17"/>
    <p:sldId id="277"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4660"/>
  </p:normalViewPr>
  <p:slideViewPr>
    <p:cSldViewPr>
      <p:cViewPr varScale="1">
        <p:scale>
          <a:sx n="84" d="100"/>
          <a:sy n="84" d="100"/>
        </p:scale>
        <p:origin x="1243" y="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A38C01-A89E-483A-8C5B-4112DC3476BC}" type="datetimeFigureOut">
              <a:rPr lang="en-IN" smtClean="0"/>
              <a:t>01-06-2024</a:t>
            </a:fld>
            <a:endParaRPr lang="en-IN"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2E002B-304B-408B-9F5A-C1006338B311}" type="slidenum">
              <a:rPr lang="en-IN" smtClean="0"/>
              <a:t>‹#›</a:t>
            </a:fld>
            <a:endParaRPr lang="en-IN" dirty="0"/>
          </a:p>
        </p:txBody>
      </p:sp>
    </p:spTree>
    <p:extLst>
      <p:ext uri="{BB962C8B-B14F-4D97-AF65-F5344CB8AC3E}">
        <p14:creationId xmlns:p14="http://schemas.microsoft.com/office/powerpoint/2010/main" val="1968117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22E002B-304B-408B-9F5A-C1006338B311}" type="slidenum">
              <a:rPr lang="en-IN" smtClean="0"/>
              <a:t>2</a:t>
            </a:fld>
            <a:endParaRPr lang="en-IN" dirty="0"/>
          </a:p>
        </p:txBody>
      </p:sp>
    </p:spTree>
    <p:extLst>
      <p:ext uri="{BB962C8B-B14F-4D97-AF65-F5344CB8AC3E}">
        <p14:creationId xmlns:p14="http://schemas.microsoft.com/office/powerpoint/2010/main" val="22122745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22E002B-304B-408B-9F5A-C1006338B311}" type="slidenum">
              <a:rPr lang="en-IN" smtClean="0"/>
              <a:t>6</a:t>
            </a:fld>
            <a:endParaRPr lang="en-IN" dirty="0"/>
          </a:p>
        </p:txBody>
      </p:sp>
    </p:spTree>
    <p:extLst>
      <p:ext uri="{BB962C8B-B14F-4D97-AF65-F5344CB8AC3E}">
        <p14:creationId xmlns:p14="http://schemas.microsoft.com/office/powerpoint/2010/main" val="3988375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58E39C3-A878-4865-9A30-D1B16BEC19A6}" type="datetime1">
              <a:rPr lang="en-IN" smtClean="0"/>
              <a:t>01-06-2024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F820D7B-87C6-4583-BB05-745C0A01675C}" type="slidenum">
              <a:rPr lang="en-IN" smtClean="0"/>
              <a:t>‹#›</a:t>
            </a:fld>
            <a:endParaRPr lang="en-IN" dirty="0"/>
          </a:p>
        </p:txBody>
      </p:sp>
    </p:spTree>
    <p:extLst>
      <p:ext uri="{BB962C8B-B14F-4D97-AF65-F5344CB8AC3E}">
        <p14:creationId xmlns:p14="http://schemas.microsoft.com/office/powerpoint/2010/main" val="1721614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2FCA08B-F211-426A-96A6-52905FE6AF0C}" type="datetime1">
              <a:rPr lang="en-IN" smtClean="0"/>
              <a:t>01-06-2024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F820D7B-87C6-4583-BB05-745C0A01675C}" type="slidenum">
              <a:rPr lang="en-IN" smtClean="0"/>
              <a:t>‹#›</a:t>
            </a:fld>
            <a:endParaRPr lang="en-IN" dirty="0"/>
          </a:p>
        </p:txBody>
      </p:sp>
    </p:spTree>
    <p:extLst>
      <p:ext uri="{BB962C8B-B14F-4D97-AF65-F5344CB8AC3E}">
        <p14:creationId xmlns:p14="http://schemas.microsoft.com/office/powerpoint/2010/main" val="3862200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50F2AC-7139-44A3-86E2-2C60CC841E03}" type="datetime1">
              <a:rPr lang="en-IN" smtClean="0"/>
              <a:t>01-06-2024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F820D7B-87C6-4583-BB05-745C0A01675C}" type="slidenum">
              <a:rPr lang="en-IN" smtClean="0"/>
              <a:t>‹#›</a:t>
            </a:fld>
            <a:endParaRPr lang="en-IN" dirty="0"/>
          </a:p>
        </p:txBody>
      </p:sp>
    </p:spTree>
    <p:extLst>
      <p:ext uri="{BB962C8B-B14F-4D97-AF65-F5344CB8AC3E}">
        <p14:creationId xmlns:p14="http://schemas.microsoft.com/office/powerpoint/2010/main" val="3794822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DCD44D6-AC6D-4FAD-BBA4-FA818E4A2867}" type="datetime1">
              <a:rPr lang="en-IN" smtClean="0"/>
              <a:t>01-06-2024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F820D7B-87C6-4583-BB05-745C0A01675C}" type="slidenum">
              <a:rPr lang="en-IN" smtClean="0"/>
              <a:t>‹#›</a:t>
            </a:fld>
            <a:endParaRPr lang="en-IN" dirty="0"/>
          </a:p>
        </p:txBody>
      </p:sp>
    </p:spTree>
    <p:extLst>
      <p:ext uri="{BB962C8B-B14F-4D97-AF65-F5344CB8AC3E}">
        <p14:creationId xmlns:p14="http://schemas.microsoft.com/office/powerpoint/2010/main" val="2077875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D4EF5AD-81B2-452C-87FA-58D376C28CAD}" type="datetime1">
              <a:rPr lang="en-IN" smtClean="0"/>
              <a:t>01-06-2024</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9F820D7B-87C6-4583-BB05-745C0A01675C}" type="slidenum">
              <a:rPr lang="en-IN" smtClean="0"/>
              <a:t>‹#›</a:t>
            </a:fld>
            <a:endParaRPr lang="en-IN" dirty="0"/>
          </a:p>
        </p:txBody>
      </p:sp>
    </p:spTree>
    <p:extLst>
      <p:ext uri="{BB962C8B-B14F-4D97-AF65-F5344CB8AC3E}">
        <p14:creationId xmlns:p14="http://schemas.microsoft.com/office/powerpoint/2010/main" val="2995790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29CB17F-FBE2-4AB6-842D-1058FBCE4A4E}" type="datetime1">
              <a:rPr lang="en-IN" smtClean="0"/>
              <a:t>01-06-2024</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9F820D7B-87C6-4583-BB05-745C0A01675C}" type="slidenum">
              <a:rPr lang="en-IN" smtClean="0"/>
              <a:t>‹#›</a:t>
            </a:fld>
            <a:endParaRPr lang="en-IN" dirty="0"/>
          </a:p>
        </p:txBody>
      </p:sp>
    </p:spTree>
    <p:extLst>
      <p:ext uri="{BB962C8B-B14F-4D97-AF65-F5344CB8AC3E}">
        <p14:creationId xmlns:p14="http://schemas.microsoft.com/office/powerpoint/2010/main" val="377750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71CAAB-B58F-4ED8-8D4C-2828961969A5}" type="datetime1">
              <a:rPr lang="en-IN" smtClean="0"/>
              <a:t>01-06-2024</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9F820D7B-87C6-4583-BB05-745C0A01675C}" type="slidenum">
              <a:rPr lang="en-IN" smtClean="0"/>
              <a:t>‹#›</a:t>
            </a:fld>
            <a:endParaRPr lang="en-IN" dirty="0"/>
          </a:p>
        </p:txBody>
      </p:sp>
    </p:spTree>
    <p:extLst>
      <p:ext uri="{BB962C8B-B14F-4D97-AF65-F5344CB8AC3E}">
        <p14:creationId xmlns:p14="http://schemas.microsoft.com/office/powerpoint/2010/main" val="2914397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7419D07D-3460-4B68-86A8-0BF1C5A4A315}" type="datetime1">
              <a:rPr lang="en-IN" smtClean="0"/>
              <a:t>01-06-2024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F820D7B-87C6-4583-BB05-745C0A01675C}" type="slidenum">
              <a:rPr lang="en-IN" smtClean="0"/>
              <a:t>‹#›</a:t>
            </a:fld>
            <a:endParaRPr lang="en-IN" dirty="0"/>
          </a:p>
        </p:txBody>
      </p:sp>
    </p:spTree>
    <p:extLst>
      <p:ext uri="{BB962C8B-B14F-4D97-AF65-F5344CB8AC3E}">
        <p14:creationId xmlns:p14="http://schemas.microsoft.com/office/powerpoint/2010/main" val="1525128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28C0D56-D1AE-4AD6-9E6D-1B659C81E4FA}" type="datetime1">
              <a:rPr lang="en-IN" smtClean="0"/>
              <a:t>01-06-2024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F820D7B-87C6-4583-BB05-745C0A01675C}" type="slidenum">
              <a:rPr lang="en-IN" smtClean="0"/>
              <a:t>‹#›</a:t>
            </a:fld>
            <a:endParaRPr lang="en-IN" dirty="0"/>
          </a:p>
        </p:txBody>
      </p:sp>
    </p:spTree>
    <p:extLst>
      <p:ext uri="{BB962C8B-B14F-4D97-AF65-F5344CB8AC3E}">
        <p14:creationId xmlns:p14="http://schemas.microsoft.com/office/powerpoint/2010/main" val="3759566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3EE5989-9A87-467D-9516-70A35761DF9A}" type="datetime1">
              <a:rPr lang="en-IN" smtClean="0"/>
              <a:t>01-06-2024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F820D7B-87C6-4583-BB05-745C0A01675C}" type="slidenum">
              <a:rPr lang="en-IN" smtClean="0"/>
              <a:t>‹#›</a:t>
            </a:fld>
            <a:endParaRPr lang="en-IN" dirty="0"/>
          </a:p>
        </p:txBody>
      </p:sp>
    </p:spTree>
    <p:extLst>
      <p:ext uri="{BB962C8B-B14F-4D97-AF65-F5344CB8AC3E}">
        <p14:creationId xmlns:p14="http://schemas.microsoft.com/office/powerpoint/2010/main" val="388576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9C2AC7A-78EB-4025-9901-59F12DEB8D89}" type="datetime1">
              <a:rPr lang="en-IN" smtClean="0"/>
              <a:t>01-06-2024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F820D7B-87C6-4583-BB05-745C0A01675C}" type="slidenum">
              <a:rPr lang="en-IN" smtClean="0"/>
              <a:t>‹#›</a:t>
            </a:fld>
            <a:endParaRPr lang="en-IN" dirty="0"/>
          </a:p>
        </p:txBody>
      </p:sp>
    </p:spTree>
    <p:extLst>
      <p:ext uri="{BB962C8B-B14F-4D97-AF65-F5344CB8AC3E}">
        <p14:creationId xmlns:p14="http://schemas.microsoft.com/office/powerpoint/2010/main" val="2652888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7468FDCB-FCF0-4545-9A73-13CBDB86406B}" type="datetime1">
              <a:rPr lang="en-IN" smtClean="0"/>
              <a:t>01-06-2024</a:t>
            </a:fld>
            <a:endParaRPr lang="en-IN"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F820D7B-87C6-4583-BB05-745C0A01675C}" type="slidenum">
              <a:rPr lang="en-IN" smtClean="0"/>
              <a:t>‹#›</a:t>
            </a:fld>
            <a:endParaRPr lang="en-IN" dirty="0"/>
          </a:p>
        </p:txBody>
      </p:sp>
    </p:spTree>
    <p:extLst>
      <p:ext uri="{BB962C8B-B14F-4D97-AF65-F5344CB8AC3E}">
        <p14:creationId xmlns:p14="http://schemas.microsoft.com/office/powerpoint/2010/main" val="173506685"/>
      </p:ext>
    </p:extLst>
  </p:cSld>
  <p:clrMap bg1="lt1" tx1="dk1" bg2="lt2" tx2="dk2" accent1="accent1" accent2="accent2" accent3="accent3" accent4="accent4" accent5="accent5" accent6="accent6" hlink="hlink" folHlink="folHlink"/>
  <p:sldLayoutIdLst>
    <p:sldLayoutId id="2147484410" r:id="rId1"/>
    <p:sldLayoutId id="2147484411" r:id="rId2"/>
    <p:sldLayoutId id="2147484412" r:id="rId3"/>
    <p:sldLayoutId id="2147484413" r:id="rId4"/>
    <p:sldLayoutId id="2147484414" r:id="rId5"/>
    <p:sldLayoutId id="2147484415" r:id="rId6"/>
    <p:sldLayoutId id="2147484416" r:id="rId7"/>
    <p:sldLayoutId id="2147484417" r:id="rId8"/>
    <p:sldLayoutId id="2147484418" r:id="rId9"/>
    <p:sldLayoutId id="2147484419" r:id="rId10"/>
    <p:sldLayoutId id="2147484420" r:id="rId11"/>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Image result for D Y Patil college of engineering and innovation">
            <a:extLst>
              <a:ext uri="{FF2B5EF4-FFF2-40B4-BE49-F238E27FC236}">
                <a16:creationId xmlns:a16="http://schemas.microsoft.com/office/drawing/2014/main" xmlns="" id="{3117F254-44D4-A0CD-2882-009E1C53BA6F}"/>
              </a:ext>
            </a:extLst>
          </p:cNvPr>
          <p:cNvPicPr>
            <a:picLocks noGrp="1"/>
          </p:cNvPicPr>
          <p:nvPr>
            <p:ph idx="1"/>
          </p:nvPr>
        </p:nvPicPr>
        <p:blipFill>
          <a:blip r:embed="rId2"/>
          <a:srcRect/>
          <a:stretch>
            <a:fillRect/>
          </a:stretch>
        </p:blipFill>
        <p:spPr>
          <a:xfrm>
            <a:off x="3781176" y="1916832"/>
            <a:ext cx="1578299" cy="1683658"/>
          </a:xfrm>
          <a:prstGeom prst="rect">
            <a:avLst/>
          </a:prstGeom>
          <a:ln/>
        </p:spPr>
      </p:pic>
      <p:sp>
        <p:nvSpPr>
          <p:cNvPr id="2" name="Date Placeholder 1"/>
          <p:cNvSpPr>
            <a:spLocks noGrp="1"/>
          </p:cNvSpPr>
          <p:nvPr>
            <p:ph type="dt" sz="half" idx="10"/>
          </p:nvPr>
        </p:nvSpPr>
        <p:spPr/>
        <p:txBody>
          <a:bodyPr/>
          <a:lstStyle/>
          <a:p>
            <a:fld id="{F13F8C57-896A-41D6-BCA4-11CD6DA0AA61}" type="datetime1">
              <a:rPr lang="en-IN" smtClean="0"/>
              <a:t>01-06-2024</a:t>
            </a:fld>
            <a:endParaRPr lang="en-IN" dirty="0"/>
          </a:p>
        </p:txBody>
      </p:sp>
      <p:sp>
        <p:nvSpPr>
          <p:cNvPr id="3" name="Slide Number Placeholder 2"/>
          <p:cNvSpPr>
            <a:spLocks noGrp="1"/>
          </p:cNvSpPr>
          <p:nvPr>
            <p:ph type="sldNum" sz="quarter" idx="12"/>
          </p:nvPr>
        </p:nvSpPr>
        <p:spPr/>
        <p:txBody>
          <a:bodyPr/>
          <a:lstStyle/>
          <a:p>
            <a:fld id="{9F820D7B-87C6-4583-BB05-745C0A01675C}" type="slidenum">
              <a:rPr lang="en-IN" smtClean="0"/>
              <a:t>1</a:t>
            </a:fld>
            <a:endParaRPr lang="en-IN" dirty="0"/>
          </a:p>
        </p:txBody>
      </p:sp>
      <p:sp>
        <p:nvSpPr>
          <p:cNvPr id="10" name="TextBox 9">
            <a:extLst>
              <a:ext uri="{FF2B5EF4-FFF2-40B4-BE49-F238E27FC236}">
                <a16:creationId xmlns:a16="http://schemas.microsoft.com/office/drawing/2014/main" xmlns="" id="{707DC6A9-1DC7-B8AD-FF79-0F9EFCF23223}"/>
              </a:ext>
            </a:extLst>
          </p:cNvPr>
          <p:cNvSpPr txBox="1"/>
          <p:nvPr/>
        </p:nvSpPr>
        <p:spPr>
          <a:xfrm>
            <a:off x="1511660" y="3811432"/>
            <a:ext cx="6120680" cy="1077218"/>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Project Title</a:t>
            </a:r>
          </a:p>
          <a:p>
            <a:pPr algn="ctr"/>
            <a:r>
              <a:rPr lang="en-IN" sz="3200" b="1" dirty="0">
                <a:latin typeface="Times New Roman" panose="02020603050405020304" pitchFamily="18" charset="0"/>
                <a:cs typeface="Times New Roman" panose="02020603050405020304" pitchFamily="18" charset="0"/>
              </a:rPr>
              <a:t>on</a:t>
            </a:r>
          </a:p>
        </p:txBody>
      </p:sp>
      <p:sp>
        <p:nvSpPr>
          <p:cNvPr id="11" name="TextBox 10">
            <a:extLst>
              <a:ext uri="{FF2B5EF4-FFF2-40B4-BE49-F238E27FC236}">
                <a16:creationId xmlns:a16="http://schemas.microsoft.com/office/drawing/2014/main" xmlns="" id="{F9163E92-D399-12B8-6A05-7E6D2C53CA86}"/>
              </a:ext>
            </a:extLst>
          </p:cNvPr>
          <p:cNvSpPr txBox="1"/>
          <p:nvPr/>
        </p:nvSpPr>
        <p:spPr>
          <a:xfrm>
            <a:off x="1511660" y="5000202"/>
            <a:ext cx="6120680" cy="954107"/>
          </a:xfrm>
          <a:prstGeom prst="rect">
            <a:avLst/>
          </a:prstGeom>
          <a:noFill/>
        </p:spPr>
        <p:txBody>
          <a:bodyPr wrap="square">
            <a:spAutoFit/>
          </a:bodyPr>
          <a:lstStyle/>
          <a:p>
            <a:pPr algn="ctr"/>
            <a:r>
              <a:rPr lang="en-US" sz="2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“Microcontroller based Automatic Sun tracking Solar Panel”</a:t>
            </a:r>
            <a:endParaRPr lang="en-IN" sz="2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41D4EA55-2B84-C5E8-D5E2-2C5636643820}"/>
              </a:ext>
            </a:extLst>
          </p:cNvPr>
          <p:cNvSpPr txBox="1"/>
          <p:nvPr/>
        </p:nvSpPr>
        <p:spPr>
          <a:xfrm>
            <a:off x="1654002" y="460440"/>
            <a:ext cx="5832648" cy="1200329"/>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Dr .</a:t>
            </a:r>
            <a:r>
              <a:rPr lang="en-US" dirty="0" smtClean="0">
                <a:latin typeface="Times New Roman" panose="02020603050405020304" pitchFamily="18" charset="0"/>
                <a:cs typeface="Times New Roman" panose="02020603050405020304" pitchFamily="18" charset="0"/>
              </a:rPr>
              <a:t>D.Y. </a:t>
            </a:r>
            <a:r>
              <a:rPr lang="en-US" dirty="0">
                <a:latin typeface="Times New Roman" panose="02020603050405020304" pitchFamily="18" charset="0"/>
                <a:cs typeface="Times New Roman" panose="02020603050405020304" pitchFamily="18" charset="0"/>
              </a:rPr>
              <a:t>Patil College of  Engineering an Innovation </a:t>
            </a:r>
            <a:r>
              <a:rPr lang="en-US" dirty="0" smtClean="0">
                <a:latin typeface="Times New Roman" panose="02020603050405020304" pitchFamily="18" charset="0"/>
                <a:cs typeface="Times New Roman" panose="02020603050405020304" pitchFamily="18" charset="0"/>
              </a:rPr>
              <a:t>Talegaon,Varale.</a:t>
            </a:r>
          </a:p>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Department of Computer Engineering</a:t>
            </a:r>
            <a:endParaRPr lang="hi-IN" dirty="0">
              <a:latin typeface="Times New Roman" panose="02020603050405020304" pitchFamily="18" charset="0"/>
            </a:endParaRPr>
          </a:p>
        </p:txBody>
      </p:sp>
    </p:spTree>
    <p:extLst>
      <p:ext uri="{BB962C8B-B14F-4D97-AF65-F5344CB8AC3E}">
        <p14:creationId xmlns:p14="http://schemas.microsoft.com/office/powerpoint/2010/main" val="15007352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xmlns="" id="{707DC6A9-1DC7-B8AD-FF79-0F9EFCF23223}"/>
              </a:ext>
            </a:extLst>
          </p:cNvPr>
          <p:cNvSpPr txBox="1"/>
          <p:nvPr/>
        </p:nvSpPr>
        <p:spPr>
          <a:xfrm>
            <a:off x="1259632" y="1188041"/>
            <a:ext cx="6120680" cy="584775"/>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Project Title</a:t>
            </a:r>
          </a:p>
        </p:txBody>
      </p:sp>
      <p:sp>
        <p:nvSpPr>
          <p:cNvPr id="10" name="TextBox 9">
            <a:extLst>
              <a:ext uri="{FF2B5EF4-FFF2-40B4-BE49-F238E27FC236}">
                <a16:creationId xmlns:a16="http://schemas.microsoft.com/office/drawing/2014/main" xmlns="" id="{F9163E92-D399-12B8-6A05-7E6D2C53CA86}"/>
              </a:ext>
            </a:extLst>
          </p:cNvPr>
          <p:cNvSpPr txBox="1"/>
          <p:nvPr/>
        </p:nvSpPr>
        <p:spPr>
          <a:xfrm>
            <a:off x="1259632" y="1844824"/>
            <a:ext cx="6120680" cy="707886"/>
          </a:xfrm>
          <a:prstGeom prst="rect">
            <a:avLst/>
          </a:prstGeom>
          <a:noFill/>
        </p:spPr>
        <p:txBody>
          <a:bodyPr wrap="square">
            <a:spAutoFit/>
          </a:bodyPr>
          <a:lstStyle/>
          <a:p>
            <a:pPr algn="ctr"/>
            <a:r>
              <a:rPr lang="en-US" sz="2000" b="1" dirty="0">
                <a:latin typeface="Times New Roman" panose="02020603050405020304" pitchFamily="18" charset="0"/>
                <a:ea typeface="Cambria" panose="02040503050406030204" pitchFamily="18" charset="0"/>
                <a:cs typeface="Times New Roman" panose="02020603050405020304" pitchFamily="18" charset="0"/>
              </a:rPr>
              <a:t>Microcontroller based Automatic Sun tracking Solar Panel.</a:t>
            </a:r>
            <a:endParaRPr lang="en-IN" sz="2000" b="1"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0F69FCB5-D5EA-1641-792B-D1250D51E7D7}"/>
              </a:ext>
            </a:extLst>
          </p:cNvPr>
          <p:cNvSpPr txBox="1"/>
          <p:nvPr/>
        </p:nvSpPr>
        <p:spPr>
          <a:xfrm>
            <a:off x="628650" y="2594711"/>
            <a:ext cx="6696744" cy="2585323"/>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Presented By:  </a:t>
            </a:r>
          </a:p>
          <a:p>
            <a:pPr>
              <a:lnSpc>
                <a:spcPct val="150000"/>
              </a:lnSpc>
            </a:pPr>
            <a:r>
              <a:rPr lang="en-IN" dirty="0">
                <a:latin typeface="Times New Roman" panose="02020603050405020304" pitchFamily="18" charset="0"/>
                <a:cs typeface="Times New Roman" panose="02020603050405020304" pitchFamily="18" charset="0"/>
              </a:rPr>
              <a:t>Mr. Chavan Raghav Sudhir                 14107</a:t>
            </a:r>
          </a:p>
          <a:p>
            <a:pPr>
              <a:lnSpc>
                <a:spcPct val="150000"/>
              </a:lnSpc>
            </a:pPr>
            <a:r>
              <a:rPr lang="en-IN" dirty="0">
                <a:latin typeface="Times New Roman" panose="02020603050405020304" pitchFamily="18" charset="0"/>
                <a:cs typeface="Times New Roman" panose="02020603050405020304" pitchFamily="18" charset="0"/>
              </a:rPr>
              <a:t>Mr. Shirsath Gaurav Devendra            14155</a:t>
            </a:r>
          </a:p>
          <a:p>
            <a:pPr>
              <a:lnSpc>
                <a:spcPct val="150000"/>
              </a:lnSpc>
            </a:pPr>
            <a:r>
              <a:rPr lang="en-IN" dirty="0">
                <a:latin typeface="Times New Roman" panose="02020603050405020304" pitchFamily="18" charset="0"/>
                <a:cs typeface="Times New Roman" panose="02020603050405020304" pitchFamily="18" charset="0"/>
              </a:rPr>
              <a:t>Mr. Thore Rohan Balasaheb                14158</a:t>
            </a:r>
          </a:p>
          <a:p>
            <a:pPr>
              <a:lnSpc>
                <a:spcPct val="150000"/>
              </a:lnSpc>
            </a:pPr>
            <a:r>
              <a:rPr lang="en-IN" dirty="0">
                <a:latin typeface="Times New Roman" panose="02020603050405020304" pitchFamily="18" charset="0"/>
                <a:cs typeface="Times New Roman" panose="02020603050405020304" pitchFamily="18" charset="0"/>
              </a:rPr>
              <a:t>Mr. Wadgane Deepak Govardhan        14162</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p:txBody>
      </p:sp>
      <p:grpSp>
        <p:nvGrpSpPr>
          <p:cNvPr id="13" name="Group 12"/>
          <p:cNvGrpSpPr/>
          <p:nvPr/>
        </p:nvGrpSpPr>
        <p:grpSpPr>
          <a:xfrm>
            <a:off x="467544" y="220482"/>
            <a:ext cx="7560840" cy="862355"/>
            <a:chOff x="190649" y="80627"/>
            <a:chExt cx="7560840" cy="862355"/>
          </a:xfrm>
        </p:grpSpPr>
        <p:pic>
          <p:nvPicPr>
            <p:cNvPr id="3" name="Picture 2"/>
            <p:cNvPicPr>
              <a:picLocks noChangeAspect="1"/>
            </p:cNvPicPr>
            <p:nvPr/>
          </p:nvPicPr>
          <p:blipFill>
            <a:blip r:embed="rId3"/>
            <a:stretch>
              <a:fillRect/>
            </a:stretch>
          </p:blipFill>
          <p:spPr>
            <a:xfrm>
              <a:off x="190649" y="80627"/>
              <a:ext cx="985837" cy="862355"/>
            </a:xfrm>
            <a:prstGeom prst="rect">
              <a:avLst/>
            </a:prstGeom>
            <a:ln>
              <a:solidFill>
                <a:schemeClr val="bg1"/>
              </a:solidFill>
            </a:ln>
          </p:spPr>
        </p:pic>
        <p:sp>
          <p:nvSpPr>
            <p:cNvPr id="6" name="TextBox 5"/>
            <p:cNvSpPr txBox="1"/>
            <p:nvPr/>
          </p:nvSpPr>
          <p:spPr>
            <a:xfrm>
              <a:off x="1846833" y="188638"/>
              <a:ext cx="5904656" cy="646331"/>
            </a:xfrm>
            <a:prstGeom prst="rect">
              <a:avLst/>
            </a:prstGeom>
            <a:noFill/>
          </p:spPr>
          <p:txBody>
            <a:bodyPr wrap="square" rtlCol="0">
              <a:spAutoFit/>
            </a:bodyPr>
            <a:lstStyle/>
            <a:p>
              <a:pPr algn="ctr" fontAlgn="base"/>
              <a:r>
                <a:rPr lang="en-US" dirty="0">
                  <a:latin typeface="Times New Roman" panose="02020603050405020304" pitchFamily="18" charset="0"/>
                  <a:cs typeface="Times New Roman" panose="02020603050405020304" pitchFamily="18" charset="0"/>
                </a:rPr>
                <a:t>Dr. D. Y. Patil College of Engineering &amp; Innovation, Varale, Talegaon, Pune</a:t>
              </a:r>
            </a:p>
          </p:txBody>
        </p:sp>
      </p:grpSp>
      <p:sp>
        <p:nvSpPr>
          <p:cNvPr id="9" name="Date Placeholder 8"/>
          <p:cNvSpPr>
            <a:spLocks noGrp="1"/>
          </p:cNvSpPr>
          <p:nvPr>
            <p:ph type="dt" sz="half" idx="10"/>
          </p:nvPr>
        </p:nvSpPr>
        <p:spPr/>
        <p:txBody>
          <a:bodyPr/>
          <a:lstStyle/>
          <a:p>
            <a:fld id="{1CDFCF59-65FB-40B5-9AF9-52711F37160A}" type="datetime1">
              <a:rPr lang="en-IN" smtClean="0"/>
              <a:t>01-06-2024</a:t>
            </a:fld>
            <a:endParaRPr lang="en-IN" dirty="0"/>
          </a:p>
        </p:txBody>
      </p:sp>
      <p:sp>
        <p:nvSpPr>
          <p:cNvPr id="12" name="Slide Number Placeholder 11"/>
          <p:cNvSpPr>
            <a:spLocks noGrp="1"/>
          </p:cNvSpPr>
          <p:nvPr>
            <p:ph type="sldNum" sz="quarter" idx="12"/>
          </p:nvPr>
        </p:nvSpPr>
        <p:spPr/>
        <p:txBody>
          <a:bodyPr/>
          <a:lstStyle/>
          <a:p>
            <a:fld id="{9F820D7B-87C6-4583-BB05-745C0A01675C}" type="slidenum">
              <a:rPr lang="en-IN" smtClean="0"/>
              <a:t>2</a:t>
            </a:fld>
            <a:endParaRPr lang="en-IN" dirty="0"/>
          </a:p>
        </p:txBody>
      </p:sp>
      <p:sp>
        <p:nvSpPr>
          <p:cNvPr id="4" name="TextBox 3">
            <a:extLst>
              <a:ext uri="{FF2B5EF4-FFF2-40B4-BE49-F238E27FC236}">
                <a16:creationId xmlns:a16="http://schemas.microsoft.com/office/drawing/2014/main" xmlns="" id="{ECF0D42F-A5DE-3838-AAC2-E5BDB00BB0A6}"/>
              </a:ext>
            </a:extLst>
          </p:cNvPr>
          <p:cNvSpPr txBox="1"/>
          <p:nvPr/>
        </p:nvSpPr>
        <p:spPr>
          <a:xfrm>
            <a:off x="4736299" y="5576457"/>
            <a:ext cx="4392488" cy="923330"/>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 Project Guide: </a:t>
            </a:r>
          </a:p>
          <a:p>
            <a:pPr algn="ctr"/>
            <a:r>
              <a:rPr lang="en-IN" dirty="0" err="1">
                <a:latin typeface="Times New Roman" panose="02020603050405020304" pitchFamily="18" charset="0"/>
                <a:cs typeface="Times New Roman" panose="02020603050405020304" pitchFamily="18" charset="0"/>
              </a:rPr>
              <a:t>Prof</a:t>
            </a:r>
            <a:r>
              <a:rPr lang="en-IN" dirty="0" err="1" smtClean="0">
                <a:latin typeface="Times New Roman" panose="02020603050405020304" pitchFamily="18" charset="0"/>
                <a:cs typeface="Times New Roman" panose="02020603050405020304" pitchFamily="18" charset="0"/>
              </a:rPr>
              <a:t>.</a:t>
            </a:r>
            <a:r>
              <a:rPr lang="en-IN" dirty="0" smtClean="0">
                <a:latin typeface="Times New Roman" panose="02020603050405020304" pitchFamily="18" charset="0"/>
                <a:cs typeface="Times New Roman" panose="02020603050405020304" pitchFamily="18" charset="0"/>
              </a:rPr>
              <a:t> </a:t>
            </a:r>
            <a:r>
              <a:rPr lang="en-IN" dirty="0" err="1" smtClean="0">
                <a:latin typeface="Times New Roman" panose="02020603050405020304" pitchFamily="18" charset="0"/>
                <a:cs typeface="Times New Roman" panose="02020603050405020304" pitchFamily="18" charset="0"/>
              </a:rPr>
              <a:t>Chandan</a:t>
            </a:r>
            <a:r>
              <a:rPr lang="en-IN" dirty="0" smtClean="0">
                <a:latin typeface="Times New Roman" panose="02020603050405020304" pitchFamily="18" charset="0"/>
                <a:cs typeface="Times New Roman" panose="02020603050405020304" pitchFamily="18" charset="0"/>
              </a:rPr>
              <a:t> </a:t>
            </a:r>
            <a:r>
              <a:rPr lang="en-IN" dirty="0" err="1" smtClean="0">
                <a:latin typeface="Times New Roman" panose="02020603050405020304" pitchFamily="18" charset="0"/>
                <a:cs typeface="Times New Roman" panose="02020603050405020304" pitchFamily="18" charset="0"/>
              </a:rPr>
              <a:t>Wagh</a:t>
            </a:r>
            <a:endParaRPr lang="en-IN" dirty="0">
              <a:latin typeface="Times New Roman" panose="02020603050405020304" pitchFamily="18" charset="0"/>
              <a:cs typeface="Times New Roman" panose="02020603050405020304" pitchFamily="18" charset="0"/>
            </a:endParaRPr>
          </a:p>
          <a:p>
            <a:endParaRPr lang="hi-IN" dirty="0"/>
          </a:p>
        </p:txBody>
      </p:sp>
    </p:spTree>
    <p:extLst>
      <p:ext uri="{BB962C8B-B14F-4D97-AF65-F5344CB8AC3E}">
        <p14:creationId xmlns:p14="http://schemas.microsoft.com/office/powerpoint/2010/main" val="38318295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80443"/>
            <a:ext cx="7886700" cy="1325563"/>
          </a:xfrm>
        </p:spPr>
        <p:txBody>
          <a:bodyPr/>
          <a:lstStyle/>
          <a:p>
            <a:r>
              <a:rPr lang="en-IN" b="1" dirty="0">
                <a:latin typeface="Times New Roman" panose="02020603050405020304" pitchFamily="18" charset="0"/>
                <a:cs typeface="Times New Roman" panose="02020603050405020304" pitchFamily="18" charset="0"/>
              </a:rPr>
              <a:t>Contents</a:t>
            </a:r>
          </a:p>
        </p:txBody>
      </p:sp>
      <p:sp>
        <p:nvSpPr>
          <p:cNvPr id="3" name="Content Placeholder 2"/>
          <p:cNvSpPr>
            <a:spLocks noGrp="1"/>
          </p:cNvSpPr>
          <p:nvPr>
            <p:ph idx="1"/>
          </p:nvPr>
        </p:nvSpPr>
        <p:spPr>
          <a:xfrm>
            <a:off x="395536" y="1253331"/>
            <a:ext cx="7886700" cy="4351338"/>
          </a:xfrm>
        </p:spPr>
        <p:txBody>
          <a:bodyPr>
            <a:normAutofit fontScale="85000" lnSpcReduction="20000"/>
          </a:bodyPr>
          <a:lstStyle/>
          <a:p>
            <a:pPr>
              <a:lnSpc>
                <a:spcPct val="150000"/>
              </a:lnSpc>
            </a:pPr>
            <a:r>
              <a:rPr lang="en-IN" dirty="0"/>
              <a:t>Abstract</a:t>
            </a:r>
          </a:p>
          <a:p>
            <a:pPr>
              <a:lnSpc>
                <a:spcPct val="150000"/>
              </a:lnSpc>
            </a:pPr>
            <a:r>
              <a:rPr lang="en-IN" dirty="0"/>
              <a:t>Introduction</a:t>
            </a:r>
          </a:p>
          <a:p>
            <a:pPr>
              <a:lnSpc>
                <a:spcPct val="150000"/>
              </a:lnSpc>
            </a:pPr>
            <a:r>
              <a:rPr lang="en-IN" dirty="0"/>
              <a:t>Literature survey</a:t>
            </a:r>
          </a:p>
          <a:p>
            <a:pPr>
              <a:lnSpc>
                <a:spcPct val="150000"/>
              </a:lnSpc>
            </a:pPr>
            <a:r>
              <a:rPr lang="en-IN" dirty="0"/>
              <a:t>Block Diagram</a:t>
            </a:r>
          </a:p>
          <a:p>
            <a:pPr>
              <a:lnSpc>
                <a:spcPct val="150000"/>
              </a:lnSpc>
            </a:pPr>
            <a:r>
              <a:rPr lang="en-IN" dirty="0"/>
              <a:t>Work </a:t>
            </a:r>
            <a:r>
              <a:rPr lang="en-IN" dirty="0" smtClean="0"/>
              <a:t>Flow</a:t>
            </a:r>
          </a:p>
          <a:p>
            <a:pPr>
              <a:lnSpc>
                <a:spcPct val="150000"/>
              </a:lnSpc>
            </a:pPr>
            <a:r>
              <a:rPr lang="en-US" dirty="0"/>
              <a:t>Current </a:t>
            </a:r>
            <a:r>
              <a:rPr lang="en-US" dirty="0" smtClean="0"/>
              <a:t>Implementation</a:t>
            </a:r>
            <a:endParaRPr lang="en-IN" dirty="0"/>
          </a:p>
          <a:p>
            <a:pPr>
              <a:lnSpc>
                <a:spcPct val="150000"/>
              </a:lnSpc>
            </a:pPr>
            <a:r>
              <a:rPr lang="en-IN" dirty="0"/>
              <a:t>Conclusion </a:t>
            </a:r>
            <a:endParaRPr lang="en-IN" dirty="0" smtClean="0"/>
          </a:p>
          <a:p>
            <a:pPr>
              <a:lnSpc>
                <a:spcPct val="150000"/>
              </a:lnSpc>
            </a:pPr>
            <a:r>
              <a:rPr lang="en-IN" dirty="0" smtClean="0"/>
              <a:t>Future </a:t>
            </a:r>
            <a:r>
              <a:rPr lang="en-IN" dirty="0"/>
              <a:t>Scope</a:t>
            </a:r>
          </a:p>
          <a:p>
            <a:pPr>
              <a:lnSpc>
                <a:spcPct val="150000"/>
              </a:lnSpc>
            </a:pPr>
            <a:r>
              <a:rPr lang="en-IN" dirty="0"/>
              <a:t>Reference</a:t>
            </a:r>
          </a:p>
          <a:p>
            <a:endParaRPr lang="en-IN" dirty="0"/>
          </a:p>
          <a:p>
            <a:endParaRPr lang="en-IN" dirty="0"/>
          </a:p>
          <a:p>
            <a:endParaRPr lang="en-IN" dirty="0"/>
          </a:p>
          <a:p>
            <a:endParaRPr lang="en-IN" dirty="0"/>
          </a:p>
        </p:txBody>
      </p:sp>
      <p:sp>
        <p:nvSpPr>
          <p:cNvPr id="4" name="Date Placeholder 3"/>
          <p:cNvSpPr>
            <a:spLocks noGrp="1"/>
          </p:cNvSpPr>
          <p:nvPr>
            <p:ph type="dt" sz="half" idx="10"/>
          </p:nvPr>
        </p:nvSpPr>
        <p:spPr/>
        <p:txBody>
          <a:bodyPr/>
          <a:lstStyle/>
          <a:p>
            <a:fld id="{D2FCA08B-F211-426A-96A6-52905FE6AF0C}" type="datetime1">
              <a:rPr lang="en-IN" smtClean="0"/>
              <a:t>01-06-2024</a:t>
            </a:fld>
            <a:endParaRPr lang="en-IN" dirty="0"/>
          </a:p>
        </p:txBody>
      </p:sp>
      <p:sp>
        <p:nvSpPr>
          <p:cNvPr id="5" name="Slide Number Placeholder 4"/>
          <p:cNvSpPr>
            <a:spLocks noGrp="1"/>
          </p:cNvSpPr>
          <p:nvPr>
            <p:ph type="sldNum" sz="quarter" idx="12"/>
          </p:nvPr>
        </p:nvSpPr>
        <p:spPr/>
        <p:txBody>
          <a:bodyPr/>
          <a:lstStyle/>
          <a:p>
            <a:fld id="{9F820D7B-87C6-4583-BB05-745C0A01675C}" type="slidenum">
              <a:rPr lang="en-IN" smtClean="0"/>
              <a:t>3</a:t>
            </a:fld>
            <a:endParaRPr lang="en-IN" dirty="0"/>
          </a:p>
        </p:txBody>
      </p:sp>
    </p:spTree>
    <p:extLst>
      <p:ext uri="{BB962C8B-B14F-4D97-AF65-F5344CB8AC3E}">
        <p14:creationId xmlns:p14="http://schemas.microsoft.com/office/powerpoint/2010/main" val="12725967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6056" y="980728"/>
            <a:ext cx="8147248" cy="778098"/>
          </a:xfrm>
        </p:spPr>
        <p:txBody>
          <a:bodyPr/>
          <a:lstStyle/>
          <a:p>
            <a:pPr algn="ctr"/>
            <a:r>
              <a:rPr lang="en-US"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a:xfrm>
            <a:off x="628650" y="6356351"/>
            <a:ext cx="2057400" cy="365125"/>
          </a:xfrm>
        </p:spPr>
        <p:txBody>
          <a:bodyPr/>
          <a:lstStyle/>
          <a:p>
            <a:fld id="{02C7491A-40DE-47FD-818E-43133446E7C3}" type="datetime1">
              <a:rPr lang="en-IN" smtClean="0"/>
              <a:t>01-06-2024</a:t>
            </a:fld>
            <a:endParaRPr lang="en-IN" dirty="0"/>
          </a:p>
        </p:txBody>
      </p:sp>
      <p:sp>
        <p:nvSpPr>
          <p:cNvPr id="6" name="Slide Number Placeholder 5"/>
          <p:cNvSpPr>
            <a:spLocks noGrp="1"/>
          </p:cNvSpPr>
          <p:nvPr>
            <p:ph type="sldNum" sz="quarter" idx="12"/>
          </p:nvPr>
        </p:nvSpPr>
        <p:spPr>
          <a:xfrm>
            <a:off x="6457950" y="6356351"/>
            <a:ext cx="2057400" cy="365125"/>
          </a:xfrm>
        </p:spPr>
        <p:txBody>
          <a:bodyPr/>
          <a:lstStyle/>
          <a:p>
            <a:fld id="{9F820D7B-87C6-4583-BB05-745C0A01675C}" type="slidenum">
              <a:rPr lang="en-IN" smtClean="0"/>
              <a:t>4</a:t>
            </a:fld>
            <a:endParaRPr lang="en-IN" dirty="0"/>
          </a:p>
        </p:txBody>
      </p:sp>
      <p:pic>
        <p:nvPicPr>
          <p:cNvPr id="11" name="Picture 10"/>
          <p:cNvPicPr>
            <a:picLocks noChangeAspect="1"/>
          </p:cNvPicPr>
          <p:nvPr/>
        </p:nvPicPr>
        <p:blipFill>
          <a:blip r:embed="rId2"/>
          <a:stretch>
            <a:fillRect/>
          </a:stretch>
        </p:blipFill>
        <p:spPr>
          <a:xfrm>
            <a:off x="25327" y="44624"/>
            <a:ext cx="985837" cy="862355"/>
          </a:xfrm>
          <a:prstGeom prst="rect">
            <a:avLst/>
          </a:prstGeom>
          <a:ln>
            <a:solidFill>
              <a:schemeClr val="bg1"/>
            </a:solidFill>
          </a:ln>
        </p:spPr>
      </p:pic>
      <p:sp>
        <p:nvSpPr>
          <p:cNvPr id="16" name="Title 1"/>
          <p:cNvSpPr txBox="1">
            <a:spLocks/>
          </p:cNvSpPr>
          <p:nvPr/>
        </p:nvSpPr>
        <p:spPr>
          <a:xfrm>
            <a:off x="493787" y="1628800"/>
            <a:ext cx="8147248" cy="439248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285750" indent="-285750" algn="just">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Increase Energy Production</a:t>
            </a:r>
            <a:r>
              <a:rPr lang="en-IN" sz="1800" dirty="0">
                <a:latin typeface="Times New Roman" panose="02020603050405020304" pitchFamily="18" charset="0"/>
                <a:cs typeface="Times New Roman" panose="02020603050405020304" pitchFamily="18" charset="0"/>
              </a:rPr>
              <a:t>: Dual-axis solar panel can continuously adjust their orientation to face the sun, maximizing the amount of sunlight they receive. This leads to significantly higher energy production compared to fixed panels, especially in regions with varying solar angles and seasons.</a:t>
            </a:r>
          </a:p>
          <a:p>
            <a:pPr marL="285750" indent="-285750" algn="just">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Higher Energy Density</a:t>
            </a:r>
            <a:r>
              <a:rPr lang="en-IN" sz="1800" dirty="0">
                <a:latin typeface="Times New Roman" panose="02020603050405020304" pitchFamily="18" charset="0"/>
                <a:cs typeface="Times New Roman" panose="02020603050405020304" pitchFamily="18" charset="0"/>
              </a:rPr>
              <a:t>: Dual-axis tracking can significantly increase the energy density of solar installation. This means that more energy can be generated from a given area, making it suitable for location with limited available spaces.</a:t>
            </a:r>
          </a:p>
          <a:p>
            <a:pPr marL="285750" indent="-285750" algn="just">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Grid flexibility</a:t>
            </a:r>
            <a:r>
              <a:rPr lang="en-IN" sz="1800" dirty="0">
                <a:latin typeface="Times New Roman" panose="02020603050405020304" pitchFamily="18" charset="0"/>
                <a:cs typeface="Times New Roman" panose="02020603050405020304" pitchFamily="18" charset="0"/>
              </a:rPr>
              <a:t>: Dual-axis tracking helps align the solar panels with the electricity demands curve, making it easier to integrate solar power into grid and potentially reducing the needs for energy storage or backup power sources</a:t>
            </a:r>
          </a:p>
          <a:p>
            <a:pPr marL="285750" indent="-285750" algn="just">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3689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3397" y="272897"/>
            <a:ext cx="8075240" cy="634082"/>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r>
              <a:rPr lang="en-IN" b="1" u="sng"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a:xfrm>
            <a:off x="467544" y="1813842"/>
            <a:ext cx="8435280" cy="4701136"/>
          </a:xfrm>
        </p:spPr>
        <p:txBody>
          <a:bodyPr>
            <a:normAutofit/>
          </a:bodyPr>
          <a:lstStyle/>
          <a:p>
            <a:pPr algn="just">
              <a:lnSpc>
                <a:spcPct val="115000"/>
              </a:lnSpc>
              <a:spcAft>
                <a:spcPts val="1000"/>
              </a:spcAft>
            </a:pPr>
            <a:r>
              <a:rPr lang="en-US" sz="1800" dirty="0">
                <a:latin typeface="Times New Roman" panose="02020603050405020304" pitchFamily="18" charset="0"/>
                <a:ea typeface="Cambria" panose="02040503050406030204" pitchFamily="18" charset="0"/>
                <a:cs typeface="Times New Roman" panose="02020603050405020304" pitchFamily="18" charset="0"/>
              </a:rPr>
              <a:t>Solar panels are a key component of these systems, converting sunlight into electricity. However, the efficiency of solar panels is heavily dependent on their orientation relative to the sun.</a:t>
            </a:r>
          </a:p>
          <a:p>
            <a:pPr algn="just">
              <a:lnSpc>
                <a:spcPct val="115000"/>
              </a:lnSpc>
              <a:spcAft>
                <a:spcPts val="1000"/>
              </a:spcAft>
            </a:pPr>
            <a:r>
              <a:rPr lang="en-US" sz="1800" dirty="0">
                <a:latin typeface="Times New Roman" panose="02020603050405020304" pitchFamily="18" charset="0"/>
                <a:ea typeface="Cambria" panose="02040503050406030204" pitchFamily="18" charset="0"/>
                <a:cs typeface="Times New Roman" panose="02020603050405020304" pitchFamily="18" charset="0"/>
              </a:rPr>
              <a:t>The "Microcontroller-Based Automatic Sun tracking Solar Panel" project introduces an innovative solution to enhance the efficiency of solar energy harvesting.</a:t>
            </a:r>
          </a:p>
          <a:p>
            <a:pPr algn="just">
              <a:lnSpc>
                <a:spcPct val="115000"/>
              </a:lnSpc>
              <a:spcAft>
                <a:spcPts val="1000"/>
              </a:spcAft>
            </a:pPr>
            <a:r>
              <a:rPr lang="en-US" sz="1800" dirty="0">
                <a:latin typeface="Times New Roman" panose="02020603050405020304" pitchFamily="18" charset="0"/>
                <a:ea typeface="Cambria" panose="02040503050406030204" pitchFamily="18" charset="0"/>
                <a:cs typeface="Times New Roman" panose="02020603050405020304" pitchFamily="18" charset="0"/>
              </a:rPr>
              <a:t>This project aims to design and develop a system that autonomously adjusts the orientation of solar panels in real time, ensuring that they are always aligned with the sun's position.</a:t>
            </a:r>
          </a:p>
        </p:txBody>
      </p:sp>
      <p:sp>
        <p:nvSpPr>
          <p:cNvPr id="4" name="Date Placeholder 3"/>
          <p:cNvSpPr>
            <a:spLocks noGrp="1"/>
          </p:cNvSpPr>
          <p:nvPr>
            <p:ph type="dt" sz="half" idx="10"/>
          </p:nvPr>
        </p:nvSpPr>
        <p:spPr/>
        <p:txBody>
          <a:bodyPr/>
          <a:lstStyle/>
          <a:p>
            <a:fld id="{9AD31FED-364A-4B36-9412-2A995D3B1911}" type="datetime1">
              <a:rPr lang="en-IN" smtClean="0"/>
              <a:t>01-06-2024</a:t>
            </a:fld>
            <a:endParaRPr lang="en-IN" dirty="0"/>
          </a:p>
        </p:txBody>
      </p:sp>
      <p:sp>
        <p:nvSpPr>
          <p:cNvPr id="5" name="Slide Number Placeholder 4"/>
          <p:cNvSpPr>
            <a:spLocks noGrp="1"/>
          </p:cNvSpPr>
          <p:nvPr>
            <p:ph type="sldNum" sz="quarter" idx="12"/>
          </p:nvPr>
        </p:nvSpPr>
        <p:spPr/>
        <p:txBody>
          <a:bodyPr/>
          <a:lstStyle/>
          <a:p>
            <a:fld id="{9F820D7B-87C6-4583-BB05-745C0A01675C}" type="slidenum">
              <a:rPr lang="en-IN" smtClean="0"/>
              <a:t>5</a:t>
            </a:fld>
            <a:endParaRPr lang="en-IN" dirty="0"/>
          </a:p>
        </p:txBody>
      </p:sp>
      <p:pic>
        <p:nvPicPr>
          <p:cNvPr id="11" name="Picture 10"/>
          <p:cNvPicPr>
            <a:picLocks noChangeAspect="1"/>
          </p:cNvPicPr>
          <p:nvPr/>
        </p:nvPicPr>
        <p:blipFill>
          <a:blip r:embed="rId2"/>
          <a:stretch>
            <a:fillRect/>
          </a:stretch>
        </p:blipFill>
        <p:spPr>
          <a:xfrm>
            <a:off x="25327" y="44624"/>
            <a:ext cx="985837" cy="862355"/>
          </a:xfrm>
          <a:prstGeom prst="rect">
            <a:avLst/>
          </a:prstGeom>
          <a:ln>
            <a:solidFill>
              <a:schemeClr val="bg1"/>
            </a:solidFill>
          </a:ln>
        </p:spPr>
      </p:pic>
    </p:spTree>
    <p:extLst>
      <p:ext uri="{BB962C8B-B14F-4D97-AF65-F5344CB8AC3E}">
        <p14:creationId xmlns:p14="http://schemas.microsoft.com/office/powerpoint/2010/main" val="24241867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722" y="272897"/>
            <a:ext cx="8075240" cy="634082"/>
          </a:xfrm>
        </p:spPr>
        <p:txBody>
          <a:bodyPr>
            <a:normAutofit/>
          </a:bodyPr>
          <a:lstStyle/>
          <a:p>
            <a:pPr algn="ctr"/>
            <a:r>
              <a:rPr lang="en-US" b="1" dirty="0">
                <a:latin typeface="Times New Roman" panose="02020603050405020304" pitchFamily="18" charset="0"/>
                <a:cs typeface="Times New Roman" panose="02020603050405020304" pitchFamily="18" charset="0"/>
              </a:rPr>
              <a:t>L</a:t>
            </a:r>
            <a:r>
              <a:rPr lang="en-IN" b="1" dirty="0">
                <a:latin typeface="Times New Roman" panose="02020603050405020304" pitchFamily="18" charset="0"/>
                <a:cs typeface="Times New Roman" panose="02020603050405020304" pitchFamily="18" charset="0"/>
              </a:rPr>
              <a:t>iterature Survey</a:t>
            </a:r>
          </a:p>
        </p:txBody>
      </p:sp>
      <p:graphicFrame>
        <p:nvGraphicFramePr>
          <p:cNvPr id="4" name="Table 3">
            <a:extLst>
              <a:ext uri="{FF2B5EF4-FFF2-40B4-BE49-F238E27FC236}">
                <a16:creationId xmlns:a16="http://schemas.microsoft.com/office/drawing/2014/main" xmlns="" id="{BC667083-4270-3777-BFB0-20A2EC8ADDFC}"/>
              </a:ext>
            </a:extLst>
          </p:cNvPr>
          <p:cNvGraphicFramePr>
            <a:graphicFrameLocks noGrp="1"/>
          </p:cNvGraphicFramePr>
          <p:nvPr>
            <p:extLst>
              <p:ext uri="{D42A27DB-BD31-4B8C-83A1-F6EECF244321}">
                <p14:modId xmlns:p14="http://schemas.microsoft.com/office/powerpoint/2010/main" val="2717232098"/>
              </p:ext>
            </p:extLst>
          </p:nvPr>
        </p:nvGraphicFramePr>
        <p:xfrm>
          <a:off x="296117" y="1748661"/>
          <a:ext cx="8424203" cy="3958316"/>
        </p:xfrm>
        <a:graphic>
          <a:graphicData uri="http://schemas.openxmlformats.org/drawingml/2006/table">
            <a:tbl>
              <a:tblPr firstRow="1" firstCol="1" bandRow="1">
                <a:tableStyleId>{5C22544A-7EE6-4342-B048-85BDC9FD1C3A}</a:tableStyleId>
              </a:tblPr>
              <a:tblGrid>
                <a:gridCol w="2915958">
                  <a:extLst>
                    <a:ext uri="{9D8B030D-6E8A-4147-A177-3AD203B41FA5}">
                      <a16:colId xmlns:a16="http://schemas.microsoft.com/office/drawing/2014/main" xmlns="" val="2620406767"/>
                    </a:ext>
                  </a:extLst>
                </a:gridCol>
                <a:gridCol w="2699554">
                  <a:extLst>
                    <a:ext uri="{9D8B030D-6E8A-4147-A177-3AD203B41FA5}">
                      <a16:colId xmlns:a16="http://schemas.microsoft.com/office/drawing/2014/main" xmlns="" val="2885251667"/>
                    </a:ext>
                  </a:extLst>
                </a:gridCol>
                <a:gridCol w="2808691">
                  <a:extLst>
                    <a:ext uri="{9D8B030D-6E8A-4147-A177-3AD203B41FA5}">
                      <a16:colId xmlns:a16="http://schemas.microsoft.com/office/drawing/2014/main" xmlns="" val="2276332947"/>
                    </a:ext>
                  </a:extLst>
                </a:gridCol>
              </a:tblGrid>
              <a:tr h="399034">
                <a:tc>
                  <a:txBody>
                    <a:bodyPr/>
                    <a:lstStyle/>
                    <a:p>
                      <a:pPr algn="ctr">
                        <a:lnSpc>
                          <a:spcPct val="107000"/>
                        </a:lnSpc>
                        <a:spcAft>
                          <a:spcPts val="800"/>
                        </a:spcAft>
                      </a:pPr>
                      <a:r>
                        <a:rPr lang="en-IN" sz="900" kern="100" dirty="0">
                          <a:solidFill>
                            <a:schemeClr val="tx1"/>
                          </a:solidFill>
                          <a:effectLst/>
                          <a:latin typeface="Times New Roman" panose="02020603050405020304" pitchFamily="18" charset="0"/>
                          <a:cs typeface="Times New Roman" panose="02020603050405020304" pitchFamily="18" charset="0"/>
                        </a:rPr>
                        <a:t>Study Title</a:t>
                      </a:r>
                      <a:endParaRPr lang="en-IN" sz="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tcPr>
                </a:tc>
                <a:tc>
                  <a:txBody>
                    <a:bodyPr/>
                    <a:lstStyle/>
                    <a:p>
                      <a:pPr algn="ctr">
                        <a:lnSpc>
                          <a:spcPct val="107000"/>
                        </a:lnSpc>
                        <a:spcAft>
                          <a:spcPts val="800"/>
                        </a:spcAft>
                      </a:pPr>
                      <a:r>
                        <a:rPr lang="en-IN" sz="900" b="1" kern="100" dirty="0">
                          <a:solidFill>
                            <a:schemeClr val="tx1"/>
                          </a:solidFill>
                          <a:effectLst/>
                          <a:latin typeface="Times New Roman" panose="02020603050405020304" pitchFamily="18" charset="0"/>
                          <a:cs typeface="Times New Roman" panose="02020603050405020304" pitchFamily="18" charset="0"/>
                        </a:rPr>
                        <a:t>Authors</a:t>
                      </a:r>
                      <a:endParaRPr lang="en-IN" sz="9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a:tcPr>
                </a:tc>
                <a:tc>
                  <a:txBody>
                    <a:bodyPr/>
                    <a:lstStyle/>
                    <a:p>
                      <a:pPr algn="ctr">
                        <a:lnSpc>
                          <a:spcPct val="107000"/>
                        </a:lnSpc>
                        <a:spcAft>
                          <a:spcPts val="800"/>
                        </a:spcAft>
                      </a:pPr>
                      <a:r>
                        <a:rPr lang="en-IN" sz="900" kern="100" dirty="0">
                          <a:solidFill>
                            <a:schemeClr val="tx1"/>
                          </a:solidFill>
                          <a:effectLst/>
                          <a:latin typeface="Times New Roman" panose="02020603050405020304" pitchFamily="18" charset="0"/>
                          <a:cs typeface="Times New Roman" panose="02020603050405020304" pitchFamily="18" charset="0"/>
                        </a:rPr>
                        <a:t>Methodology &amp; Key Findings</a:t>
                      </a:r>
                      <a:endParaRPr lang="en-IN" sz="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extLst>
                  <a:ext uri="{0D108BD9-81ED-4DB2-BD59-A6C34878D82A}">
                    <a16:rowId xmlns:a16="http://schemas.microsoft.com/office/drawing/2014/main" xmlns="" val="34245238"/>
                  </a:ext>
                </a:extLst>
              </a:tr>
              <a:tr h="955333">
                <a:tc>
                  <a:txBody>
                    <a:bodyPr/>
                    <a:lstStyle/>
                    <a:p>
                      <a:pPr algn="ctr">
                        <a:lnSpc>
                          <a:spcPct val="107000"/>
                        </a:lnSpc>
                        <a:spcAft>
                          <a:spcPts val="800"/>
                        </a:spcAft>
                      </a:pPr>
                      <a:endParaRPr lang="en-IN" sz="900" kern="100" dirty="0">
                        <a:solidFill>
                          <a:schemeClr val="tx1"/>
                        </a:solidFill>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IN" sz="900" kern="100" dirty="0">
                          <a:solidFill>
                            <a:schemeClr val="tx1"/>
                          </a:solidFill>
                          <a:effectLst/>
                          <a:latin typeface="Times New Roman" panose="02020603050405020304" pitchFamily="18" charset="0"/>
                          <a:cs typeface="Times New Roman" panose="02020603050405020304" pitchFamily="18" charset="0"/>
                        </a:rPr>
                        <a:t>“Solar panel</a:t>
                      </a:r>
                      <a:r>
                        <a:rPr lang="en-IN" sz="900" kern="100" baseline="0" dirty="0">
                          <a:solidFill>
                            <a:schemeClr val="tx1"/>
                          </a:solidFill>
                          <a:effectLst/>
                          <a:latin typeface="Times New Roman" panose="02020603050405020304" pitchFamily="18" charset="0"/>
                          <a:cs typeface="Times New Roman" panose="02020603050405020304" pitchFamily="18" charset="0"/>
                        </a:rPr>
                        <a:t> sun tracking system: Review of Design and Implementation.</a:t>
                      </a:r>
                      <a:r>
                        <a:rPr lang="en-IN" sz="900" kern="100" dirty="0">
                          <a:solidFill>
                            <a:schemeClr val="tx1"/>
                          </a:solidFill>
                          <a:effectLst/>
                          <a:latin typeface="Times New Roman" panose="02020603050405020304" pitchFamily="18" charset="0"/>
                          <a:cs typeface="Times New Roman" panose="02020603050405020304" pitchFamily="18" charset="0"/>
                        </a:rPr>
                        <a:t>"</a:t>
                      </a:r>
                      <a:endParaRPr lang="en-IN" sz="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tcPr>
                </a:tc>
                <a:tc>
                  <a:txBody>
                    <a:bodyPr/>
                    <a:lstStyle/>
                    <a:p>
                      <a:pPr>
                        <a:lnSpc>
                          <a:spcPct val="107000"/>
                        </a:lnSpc>
                        <a:spcAft>
                          <a:spcPts val="800"/>
                        </a:spcAft>
                      </a:pPr>
                      <a:r>
                        <a:rPr kumimoji="0" lang="en-US" sz="900" b="0" i="0" kern="1200" dirty="0">
                          <a:solidFill>
                            <a:schemeClr val="dk1"/>
                          </a:solidFill>
                          <a:effectLst/>
                          <a:latin typeface="Times New Roman" panose="02020603050405020304" pitchFamily="18" charset="0"/>
                          <a:ea typeface="+mn-ea"/>
                          <a:cs typeface="Times New Roman" panose="02020603050405020304" pitchFamily="18" charset="0"/>
                        </a:rPr>
                        <a:t>K. N. Nwaobi,</a:t>
                      </a:r>
                      <a:r>
                        <a:rPr kumimoji="0" lang="en-US" sz="900" b="0" i="0" kern="1200" baseline="0" dirty="0">
                          <a:solidFill>
                            <a:schemeClr val="dk1"/>
                          </a:solidFill>
                          <a:effectLst/>
                          <a:latin typeface="Times New Roman" panose="02020603050405020304" pitchFamily="18" charset="0"/>
                          <a:ea typeface="+mn-ea"/>
                          <a:cs typeface="Times New Roman" panose="02020603050405020304" pitchFamily="18" charset="0"/>
                        </a:rPr>
                        <a:t> C. A. Okeke &amp; P. E. Ugwuoke</a:t>
                      </a:r>
                      <a:endParaRPr lang="en-IN" sz="9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a:tcPr>
                </a:tc>
                <a:tc>
                  <a:txBody>
                    <a:bodyPr/>
                    <a:lstStyle/>
                    <a:p>
                      <a:pPr>
                        <a:lnSpc>
                          <a:spcPct val="107000"/>
                        </a:lnSpc>
                        <a:spcAft>
                          <a:spcPts val="800"/>
                        </a:spcAft>
                      </a:pPr>
                      <a:r>
                        <a:rPr lang="en-IN" sz="900" kern="100" dirty="0">
                          <a:effectLst/>
                          <a:latin typeface="Times New Roman" panose="02020603050405020304" pitchFamily="18" charset="0"/>
                          <a:cs typeface="Times New Roman" panose="02020603050405020304" pitchFamily="18" charset="0"/>
                        </a:rPr>
                        <a:t>-</a:t>
                      </a:r>
                      <a:r>
                        <a:rPr kumimoji="0" lang="en-US" sz="900" b="0" i="0" kern="1200" dirty="0">
                          <a:solidFill>
                            <a:schemeClr val="dk1"/>
                          </a:solidFill>
                          <a:effectLst/>
                          <a:latin typeface="Times New Roman" panose="02020603050405020304" pitchFamily="18" charset="0"/>
                          <a:ea typeface="+mn-ea"/>
                          <a:cs typeface="Times New Roman" panose="02020603050405020304" pitchFamily="18" charset="0"/>
                        </a:rPr>
                        <a:t>K. N. Nwaobi, C. A. Okeke, and P. E. Ugwuoke. "Solar Panel Sun Tracking System: Review of Design and Implementation." International Journal of Advanced Research in Electrical, Electronics and Instrumentation Engineering, Volume 6, Issue 5, May 2019.</a:t>
                      </a:r>
                      <a:endParaRPr lang="en-IN" sz="9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extLst>
                  <a:ext uri="{0D108BD9-81ED-4DB2-BD59-A6C34878D82A}">
                    <a16:rowId xmlns:a16="http://schemas.microsoft.com/office/drawing/2014/main" xmlns="" val="256260954"/>
                  </a:ext>
                </a:extLst>
              </a:tr>
              <a:tr h="904022">
                <a:tc>
                  <a:txBody>
                    <a:bodyPr/>
                    <a:lstStyle/>
                    <a:p>
                      <a:pPr algn="ctr">
                        <a:lnSpc>
                          <a:spcPct val="107000"/>
                        </a:lnSpc>
                        <a:spcAft>
                          <a:spcPts val="800"/>
                        </a:spcAft>
                      </a:pPr>
                      <a:endParaRPr lang="en-IN" sz="900" kern="100" dirty="0">
                        <a:solidFill>
                          <a:schemeClr val="tx1"/>
                        </a:solidFill>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IN" sz="900" kern="100" dirty="0">
                          <a:solidFill>
                            <a:schemeClr val="tx1"/>
                          </a:solidFill>
                          <a:effectLst/>
                          <a:latin typeface="Times New Roman" panose="02020603050405020304" pitchFamily="18" charset="0"/>
                          <a:cs typeface="Times New Roman" panose="02020603050405020304" pitchFamily="18" charset="0"/>
                        </a:rPr>
                        <a:t>“</a:t>
                      </a:r>
                      <a:r>
                        <a:rPr lang="en-US" sz="900" kern="100" dirty="0">
                          <a:solidFill>
                            <a:schemeClr val="tx1"/>
                          </a:solidFill>
                          <a:effectLst/>
                          <a:latin typeface="Times New Roman" panose="02020603050405020304" pitchFamily="18" charset="0"/>
                          <a:cs typeface="Times New Roman" panose="02020603050405020304" pitchFamily="18" charset="0"/>
                        </a:rPr>
                        <a:t>Solar Tracking</a:t>
                      </a:r>
                      <a:r>
                        <a:rPr lang="en-US" sz="900" kern="100" baseline="0" dirty="0">
                          <a:solidFill>
                            <a:schemeClr val="tx1"/>
                          </a:solidFill>
                          <a:effectLst/>
                          <a:latin typeface="Times New Roman" panose="02020603050405020304" pitchFamily="18" charset="0"/>
                          <a:cs typeface="Times New Roman" panose="02020603050405020304" pitchFamily="18" charset="0"/>
                        </a:rPr>
                        <a:t> System for power Optimization using Microcontroller </a:t>
                      </a:r>
                      <a:r>
                        <a:rPr lang="en-IN" sz="900" kern="100" dirty="0">
                          <a:solidFill>
                            <a:schemeClr val="tx1"/>
                          </a:solidFill>
                          <a:effectLst/>
                          <a:latin typeface="Times New Roman" panose="02020603050405020304" pitchFamily="18" charset="0"/>
                          <a:cs typeface="Times New Roman" panose="02020603050405020304" pitchFamily="18" charset="0"/>
                        </a:rPr>
                        <a:t>"</a:t>
                      </a:r>
                      <a:endParaRPr lang="en-IN" sz="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tcPr>
                </a:tc>
                <a:tc>
                  <a:txBody>
                    <a:bodyPr/>
                    <a:lstStyle/>
                    <a:p>
                      <a:pPr>
                        <a:lnSpc>
                          <a:spcPct val="107000"/>
                        </a:lnSpc>
                        <a:spcAft>
                          <a:spcPts val="800"/>
                        </a:spcAft>
                      </a:pPr>
                      <a:r>
                        <a:rPr kumimoji="0" lang="en-US" sz="900" b="0" i="0" kern="1200" dirty="0">
                          <a:solidFill>
                            <a:schemeClr val="dk1"/>
                          </a:solidFill>
                          <a:effectLst/>
                          <a:latin typeface="Times New Roman" panose="02020603050405020304" pitchFamily="18" charset="0"/>
                          <a:ea typeface="+mn-ea"/>
                          <a:cs typeface="Times New Roman" panose="02020603050405020304" pitchFamily="18" charset="0"/>
                        </a:rPr>
                        <a:t>Prabhat Kumar , Vijay Kr. Garg, &amp; S. Chatterji</a:t>
                      </a:r>
                      <a:r>
                        <a:rPr kumimoji="0" lang="en-US" sz="900" b="0" i="0" kern="1200" baseline="0" dirty="0">
                          <a:solidFill>
                            <a:schemeClr val="dk1"/>
                          </a:solidFill>
                          <a:effectLst/>
                          <a:latin typeface="Times New Roman" panose="02020603050405020304" pitchFamily="18" charset="0"/>
                          <a:ea typeface="+mn-ea"/>
                          <a:cs typeface="Times New Roman" panose="02020603050405020304" pitchFamily="18" charset="0"/>
                        </a:rPr>
                        <a:t> </a:t>
                      </a:r>
                      <a:endParaRPr lang="en-IN" sz="9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a:tcPr>
                </a:tc>
                <a:tc>
                  <a:txBody>
                    <a:bodyPr/>
                    <a:lstStyle/>
                    <a:p>
                      <a:pPr>
                        <a:lnSpc>
                          <a:spcPct val="107000"/>
                        </a:lnSpc>
                        <a:spcAft>
                          <a:spcPts val="800"/>
                        </a:spcAft>
                      </a:pPr>
                      <a:r>
                        <a:rPr lang="en-IN" sz="900" kern="100" dirty="0">
                          <a:effectLst/>
                          <a:latin typeface="Times New Roman" panose="02020603050405020304" pitchFamily="18" charset="0"/>
                          <a:cs typeface="Times New Roman" panose="02020603050405020304" pitchFamily="18" charset="0"/>
                        </a:rPr>
                        <a:t>- </a:t>
                      </a:r>
                      <a:r>
                        <a:rPr kumimoji="0" lang="en-US" sz="900" b="0" i="0" kern="1200" dirty="0">
                          <a:solidFill>
                            <a:schemeClr val="dk1"/>
                          </a:solidFill>
                          <a:effectLst/>
                          <a:latin typeface="Times New Roman" panose="02020603050405020304" pitchFamily="18" charset="0"/>
                          <a:ea typeface="+mn-ea"/>
                          <a:cs typeface="Times New Roman" panose="02020603050405020304" pitchFamily="18" charset="0"/>
                        </a:rPr>
                        <a:t>Prabhat Kumar, Vijay Kr. Garg, and S. Chatterji. "Solar Tracking System for Power Optimization Using Microcontroller." International Journal of Advanced Research in Computer Science and Software Engineering, Volume 4, Issue 6, June 2020..</a:t>
                      </a:r>
                      <a:endParaRPr lang="en-IN" sz="9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extLst>
                  <a:ext uri="{0D108BD9-81ED-4DB2-BD59-A6C34878D82A}">
                    <a16:rowId xmlns:a16="http://schemas.microsoft.com/office/drawing/2014/main" xmlns="" val="781594159"/>
                  </a:ext>
                </a:extLst>
              </a:tr>
              <a:tr h="915345">
                <a:tc>
                  <a:txBody>
                    <a:bodyPr/>
                    <a:lstStyle/>
                    <a:p>
                      <a:pPr algn="ctr">
                        <a:lnSpc>
                          <a:spcPct val="100000"/>
                        </a:lnSpc>
                        <a:spcAft>
                          <a:spcPts val="800"/>
                        </a:spcAft>
                      </a:pPr>
                      <a:r>
                        <a:rPr lang="en-US" sz="900" dirty="0">
                          <a:solidFill>
                            <a:schemeClr val="tx1"/>
                          </a:solidFill>
                          <a:latin typeface="Times New Roman" panose="02020603050405020304" pitchFamily="18" charset="0"/>
                          <a:cs typeface="Times New Roman" panose="02020603050405020304" pitchFamily="18" charset="0"/>
                        </a:rPr>
                        <a:t>“a tracking system using solar panels”</a:t>
                      </a:r>
                      <a:endParaRPr lang="en-IN" sz="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nchor="ct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tcPr>
                </a:tc>
                <a:tc>
                  <a:txBody>
                    <a:bodyPr/>
                    <a:lstStyle/>
                    <a:p>
                      <a:pPr>
                        <a:lnSpc>
                          <a:spcPct val="107000"/>
                        </a:lnSpc>
                        <a:spcAft>
                          <a:spcPts val="800"/>
                        </a:spcAft>
                      </a:pPr>
                      <a:r>
                        <a:rPr lang="en-US" sz="900" dirty="0">
                          <a:latin typeface="Times New Roman" panose="02020603050405020304" pitchFamily="18" charset="0"/>
                          <a:cs typeface="Times New Roman" panose="02020603050405020304" pitchFamily="18" charset="0"/>
                        </a:rPr>
                        <a:t>Chaiko and Rizk</a:t>
                      </a:r>
                      <a:endParaRPr lang="en-IN" sz="9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a:tcPr>
                </a:tc>
                <a:tc>
                  <a:txBody>
                    <a:bodyPr/>
                    <a:lstStyle/>
                    <a:p>
                      <a:pPr>
                        <a:lnSpc>
                          <a:spcPct val="107000"/>
                        </a:lnSpc>
                        <a:spcAft>
                          <a:spcPts val="800"/>
                        </a:spcAft>
                      </a:pPr>
                      <a:r>
                        <a:rPr lang="en-US" sz="900" dirty="0">
                          <a:latin typeface="Times New Roman" panose="02020603050405020304" pitchFamily="18" charset="0"/>
                          <a:cs typeface="Times New Roman" panose="02020603050405020304" pitchFamily="18" charset="0"/>
                        </a:rPr>
                        <a:t>-Chaiko and Rizkdeveloped a tracking system using solar panels efficiently. They designed a simple single axis tracking system using stepper motor and light sensorThey observed that this system stretches the efficiency of power collection by keeping a solar panel perpendicular to the sun rays</a:t>
                      </a:r>
                      <a:endParaRPr lang="en-IN" sz="9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extLst>
                  <a:ext uri="{0D108BD9-81ED-4DB2-BD59-A6C34878D82A}">
                    <a16:rowId xmlns:a16="http://schemas.microsoft.com/office/drawing/2014/main" xmlns="" val="3559523733"/>
                  </a:ext>
                </a:extLst>
              </a:tr>
              <a:tr h="784582">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IN" sz="900" kern="100" dirty="0">
                          <a:solidFill>
                            <a:schemeClr val="tx1"/>
                          </a:solidFill>
                          <a:effectLst/>
                          <a:latin typeface="Times New Roman" panose="02020603050405020304" pitchFamily="18" charset="0"/>
                          <a:cs typeface="Times New Roman" panose="02020603050405020304" pitchFamily="18" charset="0"/>
                        </a:rPr>
                        <a:t>“</a:t>
                      </a:r>
                      <a:r>
                        <a:rPr lang="en-US" sz="900" kern="1200" dirty="0">
                          <a:solidFill>
                            <a:schemeClr val="dk1"/>
                          </a:solidFill>
                          <a:effectLst/>
                          <a:latin typeface="Times New Roman" panose="02020603050405020304" pitchFamily="18" charset="0"/>
                          <a:ea typeface="+mn-ea"/>
                          <a:cs typeface="Times New Roman" panose="02020603050405020304" pitchFamily="18" charset="0"/>
                        </a:rPr>
                        <a:t>Solar Tracking System using Microcontroller</a:t>
                      </a:r>
                      <a:r>
                        <a:rPr lang="en-IN" sz="900" kern="100" dirty="0">
                          <a:solidFill>
                            <a:schemeClr val="tx1"/>
                          </a:solidFill>
                          <a:effectLst/>
                          <a:latin typeface="Times New Roman" panose="02020603050405020304" pitchFamily="18" charset="0"/>
                          <a:cs typeface="Times New Roman" panose="02020603050405020304" pitchFamily="18" charset="0"/>
                        </a:rPr>
                        <a:t>"</a:t>
                      </a:r>
                      <a:endParaRPr lang="en-IN" sz="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7000"/>
                        </a:lnSpc>
                        <a:spcAft>
                          <a:spcPts val="800"/>
                        </a:spcAft>
                      </a:pPr>
                      <a:endParaRPr lang="en-IN" sz="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nchor="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tcPr>
                </a:tc>
                <a:tc>
                  <a:txBody>
                    <a:bodyPr/>
                    <a:lstStyle/>
                    <a:p>
                      <a:pPr>
                        <a:lnSpc>
                          <a:spcPct val="107000"/>
                        </a:lnSpc>
                        <a:spcAft>
                          <a:spcPts val="800"/>
                        </a:spcAft>
                      </a:pPr>
                      <a:r>
                        <a:rPr lang="en-US" sz="900" kern="1200" dirty="0">
                          <a:solidFill>
                            <a:schemeClr val="dk1"/>
                          </a:solidFill>
                          <a:effectLst/>
                          <a:latin typeface="Times New Roman" panose="02020603050405020304" pitchFamily="18" charset="0"/>
                          <a:ea typeface="+mn-ea"/>
                          <a:cs typeface="Times New Roman" panose="02020603050405020304" pitchFamily="18" charset="0"/>
                        </a:rPr>
                        <a:t>Priyanjan Sharma Nitesh Malhotra </a:t>
                      </a:r>
                      <a:endParaRPr lang="en-IN" sz="9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a:tcPr>
                </a:tc>
                <a:tc>
                  <a:txBody>
                    <a:bodyPr/>
                    <a:lstStyle/>
                    <a:p>
                      <a:r>
                        <a:rPr lang="en-US" sz="900" kern="1200" dirty="0">
                          <a:solidFill>
                            <a:schemeClr val="dk1"/>
                          </a:solidFill>
                          <a:effectLst/>
                          <a:latin typeface="Times New Roman" panose="02020603050405020304" pitchFamily="18" charset="0"/>
                          <a:ea typeface="+mn-ea"/>
                          <a:cs typeface="Times New Roman" panose="02020603050405020304" pitchFamily="18" charset="0"/>
                        </a:rPr>
                        <a:t>-</a:t>
                      </a:r>
                      <a:r>
                        <a:rPr lang="en-US" sz="900" kern="1200" baseline="0" dirty="0">
                          <a:solidFill>
                            <a:schemeClr val="dk1"/>
                          </a:solidFill>
                          <a:effectLst/>
                          <a:latin typeface="Times New Roman" panose="02020603050405020304" pitchFamily="18" charset="0"/>
                          <a:ea typeface="+mn-ea"/>
                          <a:cs typeface="Times New Roman" panose="02020603050405020304" pitchFamily="18" charset="0"/>
                        </a:rPr>
                        <a:t> </a:t>
                      </a:r>
                      <a:r>
                        <a:rPr lang="en-US" sz="900" kern="1200" dirty="0">
                          <a:solidFill>
                            <a:schemeClr val="dk1"/>
                          </a:solidFill>
                          <a:effectLst/>
                          <a:latin typeface="Times New Roman" panose="02020603050405020304" pitchFamily="18" charset="0"/>
                          <a:ea typeface="+mn-ea"/>
                          <a:cs typeface="Times New Roman" panose="02020603050405020304" pitchFamily="18" charset="0"/>
                        </a:rPr>
                        <a:t>Priyanjan Sharma Nitesh Malhotra “ Solar Tracking System using Microcontroller” Proceedings of 2014 1st International Conference on Non Conventional Energy (ICONCE 2014) (77-79) 978-1-4799-3340- 2/14/$31.00 ©2014 IEEE</a:t>
                      </a:r>
                      <a:endParaRPr lang="en-IN" sz="900" kern="1200" dirty="0">
                        <a:solidFill>
                          <a:schemeClr val="dk1"/>
                        </a:solidFill>
                        <a:effectLst/>
                        <a:latin typeface="Times New Roman" panose="02020603050405020304" pitchFamily="18" charset="0"/>
                        <a:ea typeface="+mn-ea"/>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extLst>
                  <a:ext uri="{0D108BD9-81ED-4DB2-BD59-A6C34878D82A}">
                    <a16:rowId xmlns:a16="http://schemas.microsoft.com/office/drawing/2014/main" xmlns="" val="3866200874"/>
                  </a:ext>
                </a:extLst>
              </a:tr>
            </a:tbl>
          </a:graphicData>
        </a:graphic>
      </p:graphicFrame>
      <p:sp>
        <p:nvSpPr>
          <p:cNvPr id="3" name="Date Placeholder 2"/>
          <p:cNvSpPr>
            <a:spLocks noGrp="1"/>
          </p:cNvSpPr>
          <p:nvPr>
            <p:ph type="dt" sz="half" idx="10"/>
          </p:nvPr>
        </p:nvSpPr>
        <p:spPr/>
        <p:txBody>
          <a:bodyPr/>
          <a:lstStyle/>
          <a:p>
            <a:fld id="{76601FCC-8A8A-40D0-8115-C7ADBAF829D6}" type="datetime1">
              <a:rPr lang="en-IN" smtClean="0"/>
              <a:t>01-06-2024</a:t>
            </a:fld>
            <a:endParaRPr lang="en-IN" dirty="0"/>
          </a:p>
        </p:txBody>
      </p:sp>
      <p:sp>
        <p:nvSpPr>
          <p:cNvPr id="5" name="Slide Number Placeholder 4"/>
          <p:cNvSpPr>
            <a:spLocks noGrp="1"/>
          </p:cNvSpPr>
          <p:nvPr>
            <p:ph type="sldNum" sz="quarter" idx="12"/>
          </p:nvPr>
        </p:nvSpPr>
        <p:spPr/>
        <p:txBody>
          <a:bodyPr/>
          <a:lstStyle/>
          <a:p>
            <a:fld id="{9F820D7B-87C6-4583-BB05-745C0A01675C}" type="slidenum">
              <a:rPr lang="en-IN" smtClean="0"/>
              <a:t>6</a:t>
            </a:fld>
            <a:endParaRPr lang="en-IN" dirty="0"/>
          </a:p>
        </p:txBody>
      </p:sp>
      <p:pic>
        <p:nvPicPr>
          <p:cNvPr id="11" name="Picture 10"/>
          <p:cNvPicPr>
            <a:picLocks noChangeAspect="1"/>
          </p:cNvPicPr>
          <p:nvPr/>
        </p:nvPicPr>
        <p:blipFill>
          <a:blip r:embed="rId3"/>
          <a:stretch>
            <a:fillRect/>
          </a:stretch>
        </p:blipFill>
        <p:spPr>
          <a:xfrm>
            <a:off x="25327" y="44624"/>
            <a:ext cx="985837" cy="862355"/>
          </a:xfrm>
          <a:prstGeom prst="rect">
            <a:avLst/>
          </a:prstGeom>
          <a:ln>
            <a:solidFill>
              <a:schemeClr val="bg1"/>
            </a:solidFill>
          </a:ln>
        </p:spPr>
      </p:pic>
    </p:spTree>
    <p:extLst>
      <p:ext uri="{BB962C8B-B14F-4D97-AF65-F5344CB8AC3E}">
        <p14:creationId xmlns:p14="http://schemas.microsoft.com/office/powerpoint/2010/main" val="18525314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526DEDEC-D57B-002A-2766-2C2DD33C6884}"/>
              </a:ext>
            </a:extLst>
          </p:cNvPr>
          <p:cNvSpPr>
            <a:spLocks noGrp="1"/>
          </p:cNvSpPr>
          <p:nvPr>
            <p:ph type="dt" sz="half" idx="10"/>
          </p:nvPr>
        </p:nvSpPr>
        <p:spPr/>
        <p:txBody>
          <a:bodyPr/>
          <a:lstStyle/>
          <a:p>
            <a:fld id="{1271CAAB-B58F-4ED8-8D4C-2828961969A5}" type="datetime1">
              <a:rPr lang="en-IN" smtClean="0"/>
              <a:t>01-06-2024</a:t>
            </a:fld>
            <a:endParaRPr lang="en-IN" dirty="0"/>
          </a:p>
        </p:txBody>
      </p:sp>
      <p:sp>
        <p:nvSpPr>
          <p:cNvPr id="3" name="Slide Number Placeholder 2">
            <a:extLst>
              <a:ext uri="{FF2B5EF4-FFF2-40B4-BE49-F238E27FC236}">
                <a16:creationId xmlns:a16="http://schemas.microsoft.com/office/drawing/2014/main" xmlns="" id="{5310D214-5C85-B0C7-D4F5-9EBC4E9DDDE3}"/>
              </a:ext>
            </a:extLst>
          </p:cNvPr>
          <p:cNvSpPr>
            <a:spLocks noGrp="1"/>
          </p:cNvSpPr>
          <p:nvPr>
            <p:ph type="sldNum" sz="quarter" idx="12"/>
          </p:nvPr>
        </p:nvSpPr>
        <p:spPr/>
        <p:txBody>
          <a:bodyPr/>
          <a:lstStyle/>
          <a:p>
            <a:fld id="{9F820D7B-87C6-4583-BB05-745C0A01675C}" type="slidenum">
              <a:rPr lang="en-IN" smtClean="0"/>
              <a:t>7</a:t>
            </a:fld>
            <a:endParaRPr lang="en-IN" dirty="0"/>
          </a:p>
        </p:txBody>
      </p:sp>
      <p:graphicFrame>
        <p:nvGraphicFramePr>
          <p:cNvPr id="5" name="Table 4">
            <a:extLst>
              <a:ext uri="{FF2B5EF4-FFF2-40B4-BE49-F238E27FC236}">
                <a16:creationId xmlns:a16="http://schemas.microsoft.com/office/drawing/2014/main" xmlns="" id="{EB4F65E6-AD0B-A216-11CC-CC647391DC24}"/>
              </a:ext>
            </a:extLst>
          </p:cNvPr>
          <p:cNvGraphicFramePr>
            <a:graphicFrameLocks noGrp="1"/>
          </p:cNvGraphicFramePr>
          <p:nvPr>
            <p:extLst>
              <p:ext uri="{D42A27DB-BD31-4B8C-83A1-F6EECF244321}">
                <p14:modId xmlns:p14="http://schemas.microsoft.com/office/powerpoint/2010/main" val="3942846199"/>
              </p:ext>
            </p:extLst>
          </p:nvPr>
        </p:nvGraphicFramePr>
        <p:xfrm>
          <a:off x="359898" y="1700808"/>
          <a:ext cx="8424203" cy="4023542"/>
        </p:xfrm>
        <a:graphic>
          <a:graphicData uri="http://schemas.openxmlformats.org/drawingml/2006/table">
            <a:tbl>
              <a:tblPr firstRow="1" firstCol="1" bandRow="1">
                <a:tableStyleId>{5C22544A-7EE6-4342-B048-85BDC9FD1C3A}</a:tableStyleId>
              </a:tblPr>
              <a:tblGrid>
                <a:gridCol w="2790222">
                  <a:extLst>
                    <a:ext uri="{9D8B030D-6E8A-4147-A177-3AD203B41FA5}">
                      <a16:colId xmlns:a16="http://schemas.microsoft.com/office/drawing/2014/main" xmlns="" val="1930023662"/>
                    </a:ext>
                  </a:extLst>
                </a:gridCol>
                <a:gridCol w="2825290">
                  <a:extLst>
                    <a:ext uri="{9D8B030D-6E8A-4147-A177-3AD203B41FA5}">
                      <a16:colId xmlns:a16="http://schemas.microsoft.com/office/drawing/2014/main" xmlns="" val="4126899843"/>
                    </a:ext>
                  </a:extLst>
                </a:gridCol>
                <a:gridCol w="2808691">
                  <a:extLst>
                    <a:ext uri="{9D8B030D-6E8A-4147-A177-3AD203B41FA5}">
                      <a16:colId xmlns:a16="http://schemas.microsoft.com/office/drawing/2014/main" xmlns="" val="221840459"/>
                    </a:ext>
                  </a:extLst>
                </a:gridCol>
              </a:tblGrid>
              <a:tr h="452937">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cs typeface="Times New Roman" panose="02020603050405020304" pitchFamily="18" charset="0"/>
                        </a:rPr>
                        <a:t>Study Title</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tcPr>
                </a:tc>
                <a:tc>
                  <a:txBody>
                    <a:bodyPr/>
                    <a:lstStyle/>
                    <a:p>
                      <a:pPr algn="ctr">
                        <a:lnSpc>
                          <a:spcPct val="107000"/>
                        </a:lnSpc>
                        <a:spcAft>
                          <a:spcPts val="800"/>
                        </a:spcAft>
                      </a:pPr>
                      <a:r>
                        <a:rPr lang="en-IN" sz="1400" b="1" kern="100" dirty="0">
                          <a:solidFill>
                            <a:schemeClr val="tx1"/>
                          </a:solidFill>
                          <a:effectLst/>
                          <a:latin typeface="Times New Roman" panose="02020603050405020304" pitchFamily="18" charset="0"/>
                          <a:cs typeface="Times New Roman" panose="02020603050405020304" pitchFamily="18" charset="0"/>
                        </a:rPr>
                        <a:t>Authors</a:t>
                      </a:r>
                      <a:endParaRPr lang="en-IN" sz="14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a:tcPr>
                </a:tc>
                <a:tc>
                  <a:txBody>
                    <a:bodyPr/>
                    <a:lstStyle/>
                    <a:p>
                      <a:pPr algn="ctr">
                        <a:lnSpc>
                          <a:spcPct val="107000"/>
                        </a:lnSpc>
                        <a:spcAft>
                          <a:spcPts val="800"/>
                        </a:spcAft>
                      </a:pPr>
                      <a:r>
                        <a:rPr lang="en-IN" sz="1400" kern="100" dirty="0">
                          <a:solidFill>
                            <a:schemeClr val="tx1"/>
                          </a:solidFill>
                          <a:effectLst/>
                          <a:latin typeface="Times New Roman" panose="02020603050405020304" pitchFamily="18" charset="0"/>
                          <a:cs typeface="Times New Roman" panose="02020603050405020304" pitchFamily="18" charset="0"/>
                        </a:rPr>
                        <a:t>Methodology &amp; Key Findings</a:t>
                      </a:r>
                      <a:endParaRPr lang="en-IN"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extLst>
                  <a:ext uri="{0D108BD9-81ED-4DB2-BD59-A6C34878D82A}">
                    <a16:rowId xmlns:a16="http://schemas.microsoft.com/office/drawing/2014/main" xmlns="" val="1891279818"/>
                  </a:ext>
                </a:extLst>
              </a:tr>
              <a:tr h="955333">
                <a:tc>
                  <a:txBody>
                    <a:bodyPr/>
                    <a:lstStyle/>
                    <a:p>
                      <a:pPr algn="ctr">
                        <a:lnSpc>
                          <a:spcPct val="107000"/>
                        </a:lnSpc>
                        <a:spcAft>
                          <a:spcPts val="800"/>
                        </a:spcAft>
                      </a:pPr>
                      <a:r>
                        <a:rPr lang="en-US" sz="1000" dirty="0">
                          <a:solidFill>
                            <a:schemeClr val="tx1"/>
                          </a:solidFill>
                          <a:latin typeface="Times New Roman" panose="02020603050405020304" pitchFamily="18" charset="0"/>
                          <a:cs typeface="Times New Roman" panose="02020603050405020304" pitchFamily="18" charset="0"/>
                        </a:rPr>
                        <a:t>“horizontal single-axis tracked solar panels”</a:t>
                      </a:r>
                      <a:endParaRPr lang="en-IN"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nchor="ct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tcPr>
                </a:tc>
                <a:tc>
                  <a:txBody>
                    <a:bodyPr/>
                    <a:lstStyle/>
                    <a:p>
                      <a:pPr>
                        <a:lnSpc>
                          <a:spcPct val="107000"/>
                        </a:lnSpc>
                        <a:spcAft>
                          <a:spcPts val="800"/>
                        </a:spcAft>
                      </a:pPr>
                      <a:r>
                        <a:rPr lang="nb-NO" sz="1000" dirty="0">
                          <a:latin typeface="Times New Roman" panose="02020603050405020304" pitchFamily="18" charset="0"/>
                          <a:cs typeface="Times New Roman" panose="02020603050405020304" pitchFamily="18" charset="0"/>
                        </a:rPr>
                        <a:t>Guiha Li, Runsheng Tang, Hao Zhong</a:t>
                      </a:r>
                      <a:endParaRPr lang="en-IN" sz="10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a:tcPr>
                </a:tc>
                <a:tc>
                  <a:txBody>
                    <a:bodyPr/>
                    <a:lstStyle/>
                    <a:p>
                      <a:pPr>
                        <a:lnSpc>
                          <a:spcPct val="107000"/>
                        </a:lnSpc>
                        <a:spcAft>
                          <a:spcPts val="800"/>
                        </a:spcAft>
                      </a:pPr>
                      <a:r>
                        <a:rPr kumimoji="0" lang="en-US" sz="800" b="0" i="0" kern="1200" dirty="0">
                          <a:solidFill>
                            <a:schemeClr val="dk1"/>
                          </a:solidFill>
                          <a:effectLst/>
                          <a:latin typeface="Times New Roman" panose="02020603050405020304" pitchFamily="18" charset="0"/>
                          <a:ea typeface="+mn-ea"/>
                          <a:cs typeface="Times New Roman" panose="02020603050405020304" pitchFamily="18" charset="0"/>
                        </a:rPr>
                        <a:t>.</a:t>
                      </a:r>
                      <a:r>
                        <a:rPr lang="en-US" sz="800" dirty="0">
                          <a:latin typeface="Times New Roman" panose="02020603050405020304" pitchFamily="18" charset="0"/>
                          <a:cs typeface="Times New Roman" panose="02020603050405020304" pitchFamily="18" charset="0"/>
                        </a:rPr>
                        <a:t> Guiha Li, Runsheng Tang, Hao Zhong investigated horizontal single-axis tracked solar panels. They obtained result as east-west axis tracking was poor to improve the energy while tracking the sun about south-north was best.</a:t>
                      </a:r>
                      <a:endParaRPr lang="en-IN" sz="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extLst>
                  <a:ext uri="{0D108BD9-81ED-4DB2-BD59-A6C34878D82A}">
                    <a16:rowId xmlns:a16="http://schemas.microsoft.com/office/drawing/2014/main" xmlns="" val="3393321885"/>
                  </a:ext>
                </a:extLst>
              </a:tr>
              <a:tr h="915345">
                <a:tc>
                  <a:txBody>
                    <a:bodyPr/>
                    <a:lstStyle/>
                    <a:p>
                      <a:pPr algn="ctr">
                        <a:lnSpc>
                          <a:spcPct val="107000"/>
                        </a:lnSpc>
                        <a:spcAft>
                          <a:spcPts val="800"/>
                        </a:spcAft>
                      </a:pPr>
                      <a:endParaRPr lang="en-IN" sz="1000" kern="100" dirty="0">
                        <a:solidFill>
                          <a:schemeClr val="tx1"/>
                        </a:solidFill>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US" sz="1000" dirty="0">
                          <a:solidFill>
                            <a:schemeClr val="tx1"/>
                          </a:solidFill>
                          <a:latin typeface="Times New Roman" panose="02020603050405020304" pitchFamily="18" charset="0"/>
                          <a:cs typeface="Times New Roman" panose="02020603050405020304" pitchFamily="18" charset="0"/>
                        </a:rPr>
                        <a:t>“detailed circuit of sun tracking solar panel”</a:t>
                      </a:r>
                      <a:endParaRPr lang="en-IN" sz="1000" kern="100" dirty="0">
                        <a:solidFill>
                          <a:schemeClr val="tx1"/>
                        </a:solidFill>
                        <a:effectLst/>
                        <a:latin typeface="Times New Roman" panose="02020603050405020304" pitchFamily="18"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tcPr>
                </a:tc>
                <a:tc>
                  <a:txBody>
                    <a:bodyPr/>
                    <a:lstStyle/>
                    <a:p>
                      <a:pPr>
                        <a:lnSpc>
                          <a:spcPct val="107000"/>
                        </a:lnSpc>
                        <a:spcAft>
                          <a:spcPts val="800"/>
                        </a:spcAft>
                      </a:pPr>
                      <a:r>
                        <a:rPr lang="en-US" sz="1000" dirty="0">
                          <a:latin typeface="Times New Roman" panose="02020603050405020304" pitchFamily="18" charset="0"/>
                          <a:cs typeface="Times New Roman" panose="02020603050405020304" pitchFamily="18" charset="0"/>
                        </a:rPr>
                        <a:t>Siti Amely Jumaat</a:t>
                      </a:r>
                      <a:endParaRPr lang="en-IN" sz="10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a:tcPr>
                </a:tc>
                <a:tc>
                  <a:txBody>
                    <a:bodyPr/>
                    <a:lstStyle/>
                    <a:p>
                      <a:pPr>
                        <a:lnSpc>
                          <a:spcPct val="107000"/>
                        </a:lnSpc>
                        <a:spcAft>
                          <a:spcPts val="800"/>
                        </a:spcAft>
                      </a:pPr>
                      <a:r>
                        <a:rPr lang="en-IN" sz="800" kern="100" dirty="0">
                          <a:effectLst/>
                          <a:latin typeface="Times New Roman" panose="02020603050405020304" pitchFamily="18" charset="0"/>
                          <a:cs typeface="Times New Roman" panose="02020603050405020304" pitchFamily="18" charset="0"/>
                        </a:rPr>
                        <a:t>-</a:t>
                      </a:r>
                      <a:r>
                        <a:rPr lang="en-US" sz="800" dirty="0">
                          <a:latin typeface="Times New Roman" panose="02020603050405020304" pitchFamily="18" charset="0"/>
                          <a:cs typeface="Times New Roman" panose="02020603050405020304" pitchFamily="18" charset="0"/>
                        </a:rPr>
                        <a:t>]Siti Amely Jumaat has a detailed circuit of sun tracking solar panel. They also showed that the solar panel can also be integrated with embedded systems which makes it complex and has high cost</a:t>
                      </a:r>
                      <a:endParaRPr lang="en-IN" sz="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extLst>
                  <a:ext uri="{0D108BD9-81ED-4DB2-BD59-A6C34878D82A}">
                    <a16:rowId xmlns:a16="http://schemas.microsoft.com/office/drawing/2014/main" xmlns="" val="293804122"/>
                  </a:ext>
                </a:extLst>
              </a:tr>
              <a:tr h="915345">
                <a:tc>
                  <a:txBody>
                    <a:bodyPr/>
                    <a:lstStyle/>
                    <a:p>
                      <a:pPr algn="ctr">
                        <a:lnSpc>
                          <a:spcPct val="107000"/>
                        </a:lnSpc>
                        <a:spcAft>
                          <a:spcPts val="800"/>
                        </a:spcAft>
                      </a:pPr>
                      <a:r>
                        <a:rPr lang="en-US" sz="1000" dirty="0">
                          <a:solidFill>
                            <a:schemeClr val="tx1"/>
                          </a:solidFill>
                          <a:latin typeface="Times New Roman" panose="02020603050405020304" pitchFamily="18" charset="0"/>
                          <a:cs typeface="Times New Roman" panose="02020603050405020304" pitchFamily="18" charset="0"/>
                        </a:rPr>
                        <a:t>“Solar Energy Measurement Using Arduino”</a:t>
                      </a:r>
                      <a:endParaRPr lang="en-IN"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nchor="ct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tcPr>
                </a:tc>
                <a:tc>
                  <a:txBody>
                    <a:bodyPr/>
                    <a:lstStyle/>
                    <a:p>
                      <a:pPr>
                        <a:lnSpc>
                          <a:spcPct val="107000"/>
                        </a:lnSpc>
                        <a:spcAft>
                          <a:spcPts val="800"/>
                        </a:spcAft>
                      </a:pPr>
                      <a:r>
                        <a:rPr lang="en-US" sz="1000" dirty="0">
                          <a:latin typeface="Times New Roman" panose="02020603050405020304" pitchFamily="18" charset="0"/>
                          <a:cs typeface="Times New Roman" panose="02020603050405020304" pitchFamily="18" charset="0"/>
                        </a:rPr>
                        <a:t>Jumaat and Othman</a:t>
                      </a:r>
                      <a:endParaRPr lang="en-IN" sz="10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a:tcPr>
                </a:tc>
                <a:tc>
                  <a:txBody>
                    <a:bodyPr/>
                    <a:lstStyle/>
                    <a:p>
                      <a:pPr>
                        <a:lnSpc>
                          <a:spcPct val="107000"/>
                        </a:lnSpc>
                        <a:spcAft>
                          <a:spcPts val="800"/>
                        </a:spcAft>
                      </a:pPr>
                      <a:r>
                        <a:rPr lang="en-IN" sz="8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800" dirty="0">
                          <a:latin typeface="Times New Roman" panose="02020603050405020304" pitchFamily="18" charset="0"/>
                          <a:cs typeface="Times New Roman" panose="02020603050405020304" pitchFamily="18" charset="0"/>
                        </a:rPr>
                        <a:t>Jumaat and Othman (2018) the research paper entitled “Solar Energy Measurement Using Arduino” has used Arduino Board Technology for developing a measurement of solar energy. For the same purpose, four parameters viz temperature, light intensity, voltage and current have been used and measured by temperature sensor, light dependent resistor sensor,</a:t>
                      </a:r>
                      <a:endParaRPr lang="en-IN" sz="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extLst>
                  <a:ext uri="{0D108BD9-81ED-4DB2-BD59-A6C34878D82A}">
                    <a16:rowId xmlns:a16="http://schemas.microsoft.com/office/drawing/2014/main" xmlns="" val="3202319452"/>
                  </a:ext>
                </a:extLst>
              </a:tr>
              <a:tr h="784582">
                <a:tc>
                  <a:txBody>
                    <a:bodyPr/>
                    <a:lstStyle/>
                    <a:p>
                      <a:pPr algn="ctr">
                        <a:lnSpc>
                          <a:spcPct val="107000"/>
                        </a:lnSpc>
                        <a:spcAft>
                          <a:spcPts val="800"/>
                        </a:spcAft>
                      </a:pPr>
                      <a:r>
                        <a:rPr lang="en-US" sz="1000" dirty="0">
                          <a:solidFill>
                            <a:schemeClr val="tx1"/>
                          </a:solidFill>
                          <a:latin typeface="Times New Roman" panose="02020603050405020304" pitchFamily="18" charset="0"/>
                          <a:cs typeface="Times New Roman" panose="02020603050405020304" pitchFamily="18" charset="0"/>
                        </a:rPr>
                        <a:t>“Arduino Based Solar Tracking System For Energy Improvement Of PV Solar Panel”</a:t>
                      </a:r>
                      <a:endParaRPr lang="en-IN"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nchor="ct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tcPr>
                </a:tc>
                <a:tc>
                  <a:txBody>
                    <a:bodyPr/>
                    <a:lstStyle/>
                    <a:p>
                      <a:pPr>
                        <a:lnSpc>
                          <a:spcPct val="107000"/>
                        </a:lnSpc>
                        <a:spcAft>
                          <a:spcPts val="800"/>
                        </a:spcAft>
                      </a:pPr>
                      <a:r>
                        <a:rPr lang="en-US" sz="1000" dirty="0">
                          <a:latin typeface="Times New Roman" panose="02020603050405020304" pitchFamily="18" charset="0"/>
                          <a:cs typeface="Times New Roman" panose="02020603050405020304" pitchFamily="18" charset="0"/>
                        </a:rPr>
                        <a:t>Aigboviosa et al</a:t>
                      </a:r>
                      <a:endParaRPr lang="en-IN" sz="10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a:tcPr>
                </a:tc>
                <a:tc>
                  <a:txBody>
                    <a:bodyPr/>
                    <a:lstStyle/>
                    <a:p>
                      <a:r>
                        <a:rPr lang="en-US" sz="800" kern="1200" dirty="0">
                          <a:solidFill>
                            <a:schemeClr val="dk1"/>
                          </a:solidFill>
                          <a:effectLst/>
                          <a:latin typeface="Times New Roman" panose="02020603050405020304" pitchFamily="18" charset="0"/>
                          <a:ea typeface="+mn-ea"/>
                          <a:cs typeface="Times New Roman" panose="02020603050405020304" pitchFamily="18" charset="0"/>
                        </a:rPr>
                        <a:t>-</a:t>
                      </a:r>
                      <a:r>
                        <a:rPr lang="en-US" sz="800" dirty="0">
                          <a:latin typeface="Times New Roman" panose="02020603050405020304" pitchFamily="18" charset="0"/>
                          <a:cs typeface="Times New Roman" panose="02020603050405020304" pitchFamily="18" charset="0"/>
                        </a:rPr>
                        <a:t>Aigboviosa et al (2018) the research paper entitled “Arduino Based Solar Tracking System For Energy Improvement Of PV Solar Panel” defines the need to improve the energy efficiency of PV solar panel using Arduino mechanism in controlling the movement of solar panel</a:t>
                      </a:r>
                      <a:endParaRPr lang="en-IN" sz="800" kern="1200" dirty="0">
                        <a:solidFill>
                          <a:schemeClr val="dk1"/>
                        </a:solidFill>
                        <a:effectLst/>
                        <a:latin typeface="Times New Roman" panose="02020603050405020304" pitchFamily="18" charset="0"/>
                        <a:ea typeface="+mn-ea"/>
                        <a:cs typeface="Times New Roman" panose="02020603050405020304" pitchFamily="18" charset="0"/>
                      </a:endParaRPr>
                    </a:p>
                  </a:txBody>
                  <a:tcPr marL="29711" marR="29711" marT="0" marB="0">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extLst>
                  <a:ext uri="{0D108BD9-81ED-4DB2-BD59-A6C34878D82A}">
                    <a16:rowId xmlns:a16="http://schemas.microsoft.com/office/drawing/2014/main" xmlns="" val="2128483545"/>
                  </a:ext>
                </a:extLst>
              </a:tr>
            </a:tbl>
          </a:graphicData>
        </a:graphic>
      </p:graphicFrame>
      <p:pic>
        <p:nvPicPr>
          <p:cNvPr id="7" name="Picture 6">
            <a:extLst>
              <a:ext uri="{FF2B5EF4-FFF2-40B4-BE49-F238E27FC236}">
                <a16:creationId xmlns:a16="http://schemas.microsoft.com/office/drawing/2014/main" xmlns="" id="{FC1E2ECC-CD13-10F6-C92B-369D0BD70559}"/>
              </a:ext>
            </a:extLst>
          </p:cNvPr>
          <p:cNvPicPr>
            <a:picLocks noChangeAspect="1"/>
          </p:cNvPicPr>
          <p:nvPr/>
        </p:nvPicPr>
        <p:blipFill>
          <a:blip r:embed="rId2"/>
          <a:stretch>
            <a:fillRect/>
          </a:stretch>
        </p:blipFill>
        <p:spPr>
          <a:xfrm>
            <a:off x="25327" y="44624"/>
            <a:ext cx="985837" cy="862355"/>
          </a:xfrm>
          <a:prstGeom prst="rect">
            <a:avLst/>
          </a:prstGeom>
          <a:ln>
            <a:solidFill>
              <a:schemeClr val="bg1"/>
            </a:solidFill>
          </a:ln>
        </p:spPr>
      </p:pic>
    </p:spTree>
    <p:extLst>
      <p:ext uri="{BB962C8B-B14F-4D97-AF65-F5344CB8AC3E}">
        <p14:creationId xmlns:p14="http://schemas.microsoft.com/office/powerpoint/2010/main" val="9815803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0110" y="272897"/>
            <a:ext cx="8075240" cy="634082"/>
          </a:xfrm>
        </p:spPr>
        <p:txBody>
          <a:bodyPr>
            <a:normAutofit/>
          </a:bodyPr>
          <a:lstStyle/>
          <a:p>
            <a:pPr algn="ctr"/>
            <a:r>
              <a:rPr lang="en-IN" sz="3200" b="1" dirty="0">
                <a:latin typeface="Times New Roman" panose="02020603050405020304" pitchFamily="18" charset="0"/>
                <a:cs typeface="Times New Roman" panose="02020603050405020304" pitchFamily="18" charset="0"/>
              </a:rPr>
              <a:t>Circuit Diagram</a:t>
            </a:r>
          </a:p>
        </p:txBody>
      </p:sp>
      <p:sp>
        <p:nvSpPr>
          <p:cNvPr id="4" name="Date Placeholder 3"/>
          <p:cNvSpPr>
            <a:spLocks noGrp="1"/>
          </p:cNvSpPr>
          <p:nvPr>
            <p:ph type="dt" sz="half" idx="10"/>
          </p:nvPr>
        </p:nvSpPr>
        <p:spPr/>
        <p:txBody>
          <a:bodyPr/>
          <a:lstStyle/>
          <a:p>
            <a:fld id="{B6A9C6D9-E4F9-40BA-9ADE-E68985647A53}" type="datetime1">
              <a:rPr lang="en-IN" smtClean="0"/>
              <a:t>01-06-2024</a:t>
            </a:fld>
            <a:endParaRPr lang="en-IN" dirty="0"/>
          </a:p>
        </p:txBody>
      </p:sp>
      <p:sp>
        <p:nvSpPr>
          <p:cNvPr id="5" name="Slide Number Placeholder 4"/>
          <p:cNvSpPr>
            <a:spLocks noGrp="1"/>
          </p:cNvSpPr>
          <p:nvPr>
            <p:ph type="sldNum" sz="quarter" idx="12"/>
          </p:nvPr>
        </p:nvSpPr>
        <p:spPr/>
        <p:txBody>
          <a:bodyPr/>
          <a:lstStyle/>
          <a:p>
            <a:fld id="{9F820D7B-87C6-4583-BB05-745C0A01675C}" type="slidenum">
              <a:rPr lang="en-IN" smtClean="0"/>
              <a:t>8</a:t>
            </a:fld>
            <a:endParaRPr lang="en-IN" dirty="0"/>
          </a:p>
        </p:txBody>
      </p:sp>
      <p:pic>
        <p:nvPicPr>
          <p:cNvPr id="11" name="Picture 10"/>
          <p:cNvPicPr>
            <a:picLocks noChangeAspect="1"/>
          </p:cNvPicPr>
          <p:nvPr/>
        </p:nvPicPr>
        <p:blipFill>
          <a:blip r:embed="rId2"/>
          <a:stretch>
            <a:fillRect/>
          </a:stretch>
        </p:blipFill>
        <p:spPr>
          <a:xfrm>
            <a:off x="25327" y="44624"/>
            <a:ext cx="985837" cy="862355"/>
          </a:xfrm>
          <a:prstGeom prst="rect">
            <a:avLst/>
          </a:prstGeom>
          <a:ln>
            <a:solidFill>
              <a:schemeClr val="bg1"/>
            </a:solidFill>
          </a:ln>
        </p:spPr>
      </p:pic>
      <p:pic>
        <p:nvPicPr>
          <p:cNvPr id="12" name="Content Placeholder 11" descr="Arduino Solar Tracke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39737" y="1609096"/>
            <a:ext cx="8075613" cy="3753898"/>
          </a:xfrm>
          <a:prstGeom prst="rect">
            <a:avLst/>
          </a:prstGeom>
          <a:noFill/>
          <a:ln>
            <a:noFill/>
          </a:ln>
        </p:spPr>
      </p:pic>
      <p:sp>
        <p:nvSpPr>
          <p:cNvPr id="3" name="TextBox 2">
            <a:extLst>
              <a:ext uri="{FF2B5EF4-FFF2-40B4-BE49-F238E27FC236}">
                <a16:creationId xmlns:a16="http://schemas.microsoft.com/office/drawing/2014/main" xmlns="" id="{752BD14D-78FC-D9AC-4998-820AD1450EE8}"/>
              </a:ext>
            </a:extLst>
          </p:cNvPr>
          <p:cNvSpPr txBox="1"/>
          <p:nvPr/>
        </p:nvSpPr>
        <p:spPr>
          <a:xfrm>
            <a:off x="2483768" y="5406601"/>
            <a:ext cx="3744416"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fig. no 1</a:t>
            </a:r>
            <a:endParaRPr lang="hi-IN" dirty="0">
              <a:latin typeface="Times New Roman" panose="02020603050405020304" pitchFamily="18" charset="0"/>
            </a:endParaRPr>
          </a:p>
        </p:txBody>
      </p:sp>
    </p:spTree>
    <p:extLst>
      <p:ext uri="{BB962C8B-B14F-4D97-AF65-F5344CB8AC3E}">
        <p14:creationId xmlns:p14="http://schemas.microsoft.com/office/powerpoint/2010/main" val="16062090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2862793" y="1851273"/>
            <a:ext cx="3418409" cy="3155454"/>
          </a:xfrm>
          <a:prstGeom prst="rect">
            <a:avLst/>
          </a:prstGeom>
        </p:spPr>
      </p:pic>
      <p:sp>
        <p:nvSpPr>
          <p:cNvPr id="4" name="Date Placeholder 3"/>
          <p:cNvSpPr>
            <a:spLocks noGrp="1"/>
          </p:cNvSpPr>
          <p:nvPr>
            <p:ph type="dt" sz="half" idx="10"/>
          </p:nvPr>
        </p:nvSpPr>
        <p:spPr/>
        <p:txBody>
          <a:bodyPr/>
          <a:lstStyle/>
          <a:p>
            <a:fld id="{D2FCA08B-F211-426A-96A6-52905FE6AF0C}" type="datetime1">
              <a:rPr lang="en-IN" smtClean="0"/>
              <a:t>01-06-2024</a:t>
            </a:fld>
            <a:endParaRPr lang="en-IN" dirty="0"/>
          </a:p>
        </p:txBody>
      </p:sp>
      <p:sp>
        <p:nvSpPr>
          <p:cNvPr id="5" name="Slide Number Placeholder 4"/>
          <p:cNvSpPr>
            <a:spLocks noGrp="1"/>
          </p:cNvSpPr>
          <p:nvPr>
            <p:ph type="sldNum" sz="quarter" idx="12"/>
          </p:nvPr>
        </p:nvSpPr>
        <p:spPr/>
        <p:txBody>
          <a:bodyPr/>
          <a:lstStyle/>
          <a:p>
            <a:fld id="{9F820D7B-87C6-4583-BB05-745C0A01675C}" type="slidenum">
              <a:rPr lang="en-IN" smtClean="0"/>
              <a:t>9</a:t>
            </a:fld>
            <a:endParaRPr lang="en-IN" dirty="0"/>
          </a:p>
        </p:txBody>
      </p:sp>
      <p:sp>
        <p:nvSpPr>
          <p:cNvPr id="3" name="TextBox 2">
            <a:extLst>
              <a:ext uri="{FF2B5EF4-FFF2-40B4-BE49-F238E27FC236}">
                <a16:creationId xmlns:a16="http://schemas.microsoft.com/office/drawing/2014/main" xmlns="" id="{27927828-29DD-7A2F-74C5-EB27287501A9}"/>
              </a:ext>
            </a:extLst>
          </p:cNvPr>
          <p:cNvSpPr txBox="1"/>
          <p:nvPr/>
        </p:nvSpPr>
        <p:spPr>
          <a:xfrm>
            <a:off x="4110171" y="5373216"/>
            <a:ext cx="923651" cy="369332"/>
          </a:xfrm>
          <a:prstGeom prst="rect">
            <a:avLst/>
          </a:prstGeom>
          <a:noFill/>
        </p:spPr>
        <p:txBody>
          <a:bodyPr wrap="none" rtlCol="0">
            <a:spAutoFit/>
          </a:bodyPr>
          <a:lstStyle/>
          <a:p>
            <a:r>
              <a:rPr lang="en-IN" dirty="0"/>
              <a:t>Fig.no 2</a:t>
            </a:r>
            <a:endParaRPr lang="hi-IN" dirty="0"/>
          </a:p>
        </p:txBody>
      </p:sp>
      <p:pic>
        <p:nvPicPr>
          <p:cNvPr id="8" name="Picture 7">
            <a:extLst>
              <a:ext uri="{FF2B5EF4-FFF2-40B4-BE49-F238E27FC236}">
                <a16:creationId xmlns:a16="http://schemas.microsoft.com/office/drawing/2014/main" xmlns="" id="{E1AD7E18-AFCC-18FA-04C2-6EA11DE2D174}"/>
              </a:ext>
            </a:extLst>
          </p:cNvPr>
          <p:cNvPicPr>
            <a:picLocks noChangeAspect="1"/>
          </p:cNvPicPr>
          <p:nvPr/>
        </p:nvPicPr>
        <p:blipFill>
          <a:blip r:embed="rId3"/>
          <a:stretch>
            <a:fillRect/>
          </a:stretch>
        </p:blipFill>
        <p:spPr>
          <a:xfrm>
            <a:off x="25327" y="44624"/>
            <a:ext cx="985837" cy="862355"/>
          </a:xfrm>
          <a:prstGeom prst="rect">
            <a:avLst/>
          </a:prstGeom>
          <a:ln>
            <a:solidFill>
              <a:schemeClr val="bg1"/>
            </a:solidFill>
          </a:ln>
        </p:spPr>
      </p:pic>
      <p:sp>
        <p:nvSpPr>
          <p:cNvPr id="9" name="Title 1"/>
          <p:cNvSpPr txBox="1">
            <a:spLocks/>
          </p:cNvSpPr>
          <p:nvPr/>
        </p:nvSpPr>
        <p:spPr>
          <a:xfrm>
            <a:off x="440110" y="272897"/>
            <a:ext cx="8075240" cy="6340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IN" sz="3200" b="1" dirty="0">
                <a:latin typeface="Times New Roman" panose="02020603050405020304" pitchFamily="18" charset="0"/>
                <a:cs typeface="Times New Roman" panose="02020603050405020304" pitchFamily="18" charset="0"/>
              </a:rPr>
              <a:t>Work Flow</a:t>
            </a:r>
          </a:p>
        </p:txBody>
      </p:sp>
    </p:spTree>
    <p:extLst>
      <p:ext uri="{BB962C8B-B14F-4D97-AF65-F5344CB8AC3E}">
        <p14:creationId xmlns:p14="http://schemas.microsoft.com/office/powerpoint/2010/main" val="34692657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1E3E2E7-3D93-1BB0-155F-35FA46FDC2C7}"/>
              </a:ext>
            </a:extLst>
          </p:cNvPr>
          <p:cNvSpPr>
            <a:spLocks noGrp="1"/>
          </p:cNvSpPr>
          <p:nvPr>
            <p:ph type="dt" sz="half" idx="10"/>
          </p:nvPr>
        </p:nvSpPr>
        <p:spPr/>
        <p:txBody>
          <a:bodyPr/>
          <a:lstStyle/>
          <a:p>
            <a:fld id="{1271CAAB-B58F-4ED8-8D4C-2828961969A5}" type="datetime1">
              <a:rPr lang="en-IN" smtClean="0"/>
              <a:t>01-06-2024</a:t>
            </a:fld>
            <a:endParaRPr lang="en-IN" dirty="0"/>
          </a:p>
        </p:txBody>
      </p:sp>
      <p:sp>
        <p:nvSpPr>
          <p:cNvPr id="3" name="Slide Number Placeholder 2">
            <a:extLst>
              <a:ext uri="{FF2B5EF4-FFF2-40B4-BE49-F238E27FC236}">
                <a16:creationId xmlns:a16="http://schemas.microsoft.com/office/drawing/2014/main" xmlns="" id="{BDCF2200-AC95-5F75-3CB5-AB3201601EAE}"/>
              </a:ext>
            </a:extLst>
          </p:cNvPr>
          <p:cNvSpPr>
            <a:spLocks noGrp="1"/>
          </p:cNvSpPr>
          <p:nvPr>
            <p:ph type="sldNum" sz="quarter" idx="12"/>
          </p:nvPr>
        </p:nvSpPr>
        <p:spPr/>
        <p:txBody>
          <a:bodyPr/>
          <a:lstStyle/>
          <a:p>
            <a:fld id="{9F820D7B-87C6-4583-BB05-745C0A01675C}" type="slidenum">
              <a:rPr lang="en-IN" smtClean="0"/>
              <a:t>10</a:t>
            </a:fld>
            <a:endParaRPr lang="en-IN" dirty="0"/>
          </a:p>
        </p:txBody>
      </p:sp>
      <p:sp>
        <p:nvSpPr>
          <p:cNvPr id="11" name="TextBox 10">
            <a:extLst>
              <a:ext uri="{FF2B5EF4-FFF2-40B4-BE49-F238E27FC236}">
                <a16:creationId xmlns:a16="http://schemas.microsoft.com/office/drawing/2014/main" xmlns="" id="{B19AD2A6-952E-370E-5C9D-507C56EF86A5}"/>
              </a:ext>
            </a:extLst>
          </p:cNvPr>
          <p:cNvSpPr txBox="1"/>
          <p:nvPr/>
        </p:nvSpPr>
        <p:spPr>
          <a:xfrm>
            <a:off x="1642750" y="322204"/>
            <a:ext cx="5616624"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Block Diagram</a:t>
            </a:r>
            <a:endParaRPr lang="hi-IN" sz="3200" b="1" dirty="0">
              <a:latin typeface="Times New Roman" panose="02020603050405020304" pitchFamily="18" charset="0"/>
            </a:endParaRPr>
          </a:p>
        </p:txBody>
      </p:sp>
      <p:sp>
        <p:nvSpPr>
          <p:cNvPr id="13" name="TextBox 12">
            <a:extLst>
              <a:ext uri="{FF2B5EF4-FFF2-40B4-BE49-F238E27FC236}">
                <a16:creationId xmlns:a16="http://schemas.microsoft.com/office/drawing/2014/main" xmlns="" id="{AFADCA6E-7F4C-FD17-3350-08F419249B43}"/>
              </a:ext>
            </a:extLst>
          </p:cNvPr>
          <p:cNvSpPr txBox="1"/>
          <p:nvPr/>
        </p:nvSpPr>
        <p:spPr>
          <a:xfrm>
            <a:off x="3311860" y="6021288"/>
            <a:ext cx="2520280" cy="369332"/>
          </a:xfrm>
          <a:prstGeom prst="rect">
            <a:avLst/>
          </a:prstGeom>
          <a:noFill/>
        </p:spPr>
        <p:txBody>
          <a:bodyPr wrap="square" rtlCol="0">
            <a:spAutoFit/>
          </a:bodyPr>
          <a:lstStyle/>
          <a:p>
            <a:pPr algn="ctr"/>
            <a:r>
              <a:rPr lang="en-US" dirty="0"/>
              <a:t>Fig.no 3</a:t>
            </a:r>
            <a:endParaRPr lang="hi-IN" dirty="0"/>
          </a:p>
        </p:txBody>
      </p:sp>
      <p:pic>
        <p:nvPicPr>
          <p:cNvPr id="15" name="Picture 14">
            <a:extLst>
              <a:ext uri="{FF2B5EF4-FFF2-40B4-BE49-F238E27FC236}">
                <a16:creationId xmlns:a16="http://schemas.microsoft.com/office/drawing/2014/main" xmlns="" id="{3BA7554F-7C87-E06C-B9E5-1971D6F5D235}"/>
              </a:ext>
            </a:extLst>
          </p:cNvPr>
          <p:cNvPicPr>
            <a:picLocks noChangeAspect="1"/>
          </p:cNvPicPr>
          <p:nvPr/>
        </p:nvPicPr>
        <p:blipFill>
          <a:blip r:embed="rId2"/>
          <a:stretch>
            <a:fillRect/>
          </a:stretch>
        </p:blipFill>
        <p:spPr>
          <a:xfrm>
            <a:off x="25327" y="44624"/>
            <a:ext cx="985837" cy="862355"/>
          </a:xfrm>
          <a:prstGeom prst="rect">
            <a:avLst/>
          </a:prstGeom>
          <a:ln>
            <a:solidFill>
              <a:schemeClr val="bg1"/>
            </a:solidFill>
          </a:ln>
        </p:spPr>
      </p:pic>
      <p:grpSp>
        <p:nvGrpSpPr>
          <p:cNvPr id="5" name="Group 4"/>
          <p:cNvGrpSpPr/>
          <p:nvPr/>
        </p:nvGrpSpPr>
        <p:grpSpPr>
          <a:xfrm>
            <a:off x="1331640" y="1328192"/>
            <a:ext cx="6480720" cy="4464496"/>
            <a:chOff x="1331640" y="1328192"/>
            <a:chExt cx="6480720" cy="4464496"/>
          </a:xfrm>
        </p:grpSpPr>
        <p:pic>
          <p:nvPicPr>
            <p:cNvPr id="10" name="Picture 9">
              <a:extLst>
                <a:ext uri="{FF2B5EF4-FFF2-40B4-BE49-F238E27FC236}">
                  <a16:creationId xmlns:a16="http://schemas.microsoft.com/office/drawing/2014/main" xmlns="" id="{9EEB4F3E-AA65-A11B-83FE-B539664D72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640" y="1328192"/>
              <a:ext cx="6480720" cy="4464496"/>
            </a:xfrm>
            <a:prstGeom prst="rect">
              <a:avLst/>
            </a:prstGeom>
          </p:spPr>
        </p:pic>
        <p:sp>
          <p:nvSpPr>
            <p:cNvPr id="4" name="TextBox 3"/>
            <p:cNvSpPr txBox="1"/>
            <p:nvPr/>
          </p:nvSpPr>
          <p:spPr>
            <a:xfrm>
              <a:off x="3514958" y="2564904"/>
              <a:ext cx="1872208" cy="369332"/>
            </a:xfrm>
            <a:prstGeom prst="rect">
              <a:avLst/>
            </a:prstGeom>
            <a:noFill/>
          </p:spPr>
          <p:txBody>
            <a:bodyPr wrap="square" rtlCol="0">
              <a:spAutoFit/>
            </a:bodyPr>
            <a:lstStyle/>
            <a:p>
              <a:r>
                <a:rPr lang="en-US" dirty="0" smtClean="0"/>
                <a:t>Arduino UNO R3</a:t>
              </a:r>
              <a:endParaRPr lang="en-IN" dirty="0"/>
            </a:p>
          </p:txBody>
        </p:sp>
      </p:grpSp>
    </p:spTree>
    <p:extLst>
      <p:ext uri="{BB962C8B-B14F-4D97-AF65-F5344CB8AC3E}">
        <p14:creationId xmlns:p14="http://schemas.microsoft.com/office/powerpoint/2010/main" val="15185996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720" y="272897"/>
            <a:ext cx="8075240" cy="634082"/>
          </a:xfrm>
        </p:spPr>
        <p:txBody>
          <a:bodyPr>
            <a:noAutofit/>
          </a:bodyPr>
          <a:lstStyle/>
          <a:p>
            <a:pPr algn="ctr">
              <a:lnSpc>
                <a:spcPct val="150000"/>
              </a:lnSpc>
            </a:pPr>
            <a:r>
              <a:rPr lang="en-US" b="1" dirty="0">
                <a:latin typeface="Times New Roman" panose="02020603050405020304" pitchFamily="18" charset="0"/>
                <a:cs typeface="Times New Roman" panose="02020603050405020304" pitchFamily="18" charset="0"/>
              </a:rPr>
              <a:t>Current Implementation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1520" y="1003940"/>
            <a:ext cx="8789640" cy="5717536"/>
          </a:xfrm>
        </p:spPr>
        <p:txBody>
          <a:bodyPr>
            <a:normAutofit fontScale="62500" lnSpcReduction="20000"/>
          </a:bodyPr>
          <a:lstStyle/>
          <a:p>
            <a:pPr marL="0" indent="0" algn="just">
              <a:lnSpc>
                <a:spcPct val="115000"/>
              </a:lnSpc>
              <a:spcAft>
                <a:spcPts val="1000"/>
              </a:spcAft>
              <a:buNone/>
            </a:pPr>
            <a:endParaRPr lang="en-US" sz="2300" dirty="0">
              <a:effectLst/>
              <a:latin typeface="Times New Roman" panose="02020603050405020304" pitchFamily="18" charset="0"/>
              <a:ea typeface="Cambria" panose="02040503050406030204" pitchFamily="18" charset="0"/>
              <a:cs typeface="Times New Roman" panose="02020603050405020304" pitchFamily="18" charset="0"/>
            </a:endParaRPr>
          </a:p>
          <a:p>
            <a:pPr algn="just">
              <a:lnSpc>
                <a:spcPct val="120000"/>
              </a:lnSpc>
            </a:pPr>
            <a:r>
              <a:rPr lang="en-US" sz="2300" b="1" dirty="0">
                <a:latin typeface="Times New Roman" panose="02020603050405020304" pitchFamily="18" charset="0"/>
                <a:cs typeface="Times New Roman" panose="02020603050405020304" pitchFamily="18" charset="0"/>
              </a:rPr>
              <a:t>Notable Implementations</a:t>
            </a:r>
          </a:p>
          <a:p>
            <a:pPr algn="just">
              <a:lnSpc>
                <a:spcPct val="120000"/>
              </a:lnSpc>
            </a:pPr>
            <a:r>
              <a:rPr lang="en-US" sz="2300" b="1" dirty="0">
                <a:latin typeface="Times New Roman" panose="02020603050405020304" pitchFamily="18" charset="0"/>
                <a:cs typeface="Times New Roman" panose="02020603050405020304" pitchFamily="18" charset="0"/>
              </a:rPr>
              <a:t>Solar Power Plants</a:t>
            </a:r>
            <a:r>
              <a:rPr lang="en-US" sz="2300" dirty="0">
                <a:latin typeface="Times New Roman" panose="02020603050405020304" pitchFamily="18" charset="0"/>
                <a:cs typeface="Times New Roman" panose="02020603050405020304" pitchFamily="18" charset="0"/>
              </a:rPr>
              <a:t>:</a:t>
            </a:r>
          </a:p>
          <a:p>
            <a:pPr lvl="1" algn="just">
              <a:lnSpc>
                <a:spcPct val="120000"/>
              </a:lnSpc>
            </a:pPr>
            <a:r>
              <a:rPr lang="en-US" sz="2300" b="1" dirty="0">
                <a:latin typeface="Times New Roman" panose="02020603050405020304" pitchFamily="18" charset="0"/>
                <a:cs typeface="Times New Roman" panose="02020603050405020304" pitchFamily="18" charset="0"/>
              </a:rPr>
              <a:t>Gemini Solar Project </a:t>
            </a:r>
            <a:r>
              <a:rPr lang="en-US" sz="2300" dirty="0">
                <a:latin typeface="Times New Roman" panose="02020603050405020304" pitchFamily="18" charset="0"/>
                <a:cs typeface="Times New Roman" panose="02020603050405020304" pitchFamily="18" charset="0"/>
              </a:rPr>
              <a:t>(USA): One of the largest solar power projects in the United States, located in Nevada, incorporates dual-axis trackers to optimize energy generation.</a:t>
            </a:r>
          </a:p>
          <a:p>
            <a:pPr lvl="1" algn="just">
              <a:lnSpc>
                <a:spcPct val="120000"/>
              </a:lnSpc>
            </a:pPr>
            <a:r>
              <a:rPr lang="en-US" sz="2300" b="1" dirty="0">
                <a:latin typeface="Times New Roman" panose="02020603050405020304" pitchFamily="18" charset="0"/>
                <a:cs typeface="Times New Roman" panose="02020603050405020304" pitchFamily="18" charset="0"/>
              </a:rPr>
              <a:t>Vanguard Solar Energy Project </a:t>
            </a:r>
            <a:r>
              <a:rPr lang="en-US" sz="2300" dirty="0">
                <a:latin typeface="Times New Roman" panose="02020603050405020304" pitchFamily="18" charset="0"/>
                <a:cs typeface="Times New Roman" panose="02020603050405020304" pitchFamily="18" charset="0"/>
              </a:rPr>
              <a:t>(Spain): Uses dual-axis tracking to increase energy output and improve efficiency in the country's solar farms.</a:t>
            </a:r>
          </a:p>
          <a:p>
            <a:pPr lvl="1" algn="just">
              <a:lnSpc>
                <a:spcPct val="120000"/>
              </a:lnSpc>
            </a:pPr>
            <a:r>
              <a:rPr lang="en-US" sz="2300" b="1" dirty="0">
                <a:latin typeface="Times New Roman" panose="02020603050405020304" pitchFamily="18" charset="0"/>
                <a:cs typeface="Times New Roman" panose="02020603050405020304" pitchFamily="18" charset="0"/>
              </a:rPr>
              <a:t>Desert Sunlight Solar Farm </a:t>
            </a:r>
            <a:r>
              <a:rPr lang="en-US" sz="2300" dirty="0">
                <a:latin typeface="Times New Roman" panose="02020603050405020304" pitchFamily="18" charset="0"/>
                <a:cs typeface="Times New Roman" panose="02020603050405020304" pitchFamily="18" charset="0"/>
              </a:rPr>
              <a:t>(USA): Located in California's Mojave Desert, this facility uses advanced tracking systems to maximize solar energy capture.</a:t>
            </a:r>
          </a:p>
          <a:p>
            <a:pPr algn="just">
              <a:lnSpc>
                <a:spcPct val="120000"/>
              </a:lnSpc>
            </a:pPr>
            <a:r>
              <a:rPr lang="en-US" sz="2300" b="1" dirty="0">
                <a:latin typeface="Times New Roman" panose="02020603050405020304" pitchFamily="18" charset="0"/>
                <a:cs typeface="Times New Roman" panose="02020603050405020304" pitchFamily="18" charset="0"/>
              </a:rPr>
              <a:t>Research and Development Centers</a:t>
            </a:r>
            <a:r>
              <a:rPr lang="en-US" sz="2300" dirty="0">
                <a:latin typeface="Times New Roman" panose="02020603050405020304" pitchFamily="18" charset="0"/>
                <a:cs typeface="Times New Roman" panose="02020603050405020304" pitchFamily="18" charset="0"/>
              </a:rPr>
              <a:t>:</a:t>
            </a:r>
          </a:p>
          <a:p>
            <a:pPr lvl="1" algn="just">
              <a:lnSpc>
                <a:spcPct val="120000"/>
              </a:lnSpc>
            </a:pPr>
            <a:r>
              <a:rPr lang="en-US" sz="2300" b="1" dirty="0">
                <a:latin typeface="Times New Roman" panose="02020603050405020304" pitchFamily="18" charset="0"/>
                <a:cs typeface="Times New Roman" panose="02020603050405020304" pitchFamily="18" charset="0"/>
              </a:rPr>
              <a:t>National Renewable Energy Laboratory </a:t>
            </a:r>
            <a:r>
              <a:rPr lang="en-US" sz="2300" dirty="0">
                <a:latin typeface="Times New Roman" panose="02020603050405020304" pitchFamily="18" charset="0"/>
                <a:cs typeface="Times New Roman" panose="02020603050405020304" pitchFamily="18" charset="0"/>
              </a:rPr>
              <a:t>(NREL, USA): Uses dual-axis trackers in experimental setups to study and improve solar panel efficiency.</a:t>
            </a:r>
          </a:p>
          <a:p>
            <a:pPr lvl="1" algn="just">
              <a:lnSpc>
                <a:spcPct val="120000"/>
              </a:lnSpc>
            </a:pPr>
            <a:r>
              <a:rPr lang="en-US" sz="2300" b="1" dirty="0" err="1">
                <a:latin typeface="Times New Roman" panose="02020603050405020304" pitchFamily="18" charset="0"/>
                <a:cs typeface="Times New Roman" panose="02020603050405020304" pitchFamily="18" charset="0"/>
              </a:rPr>
              <a:t>Fraunhofer</a:t>
            </a:r>
            <a:r>
              <a:rPr lang="en-US" sz="2300" b="1" dirty="0">
                <a:latin typeface="Times New Roman" panose="02020603050405020304" pitchFamily="18" charset="0"/>
                <a:cs typeface="Times New Roman" panose="02020603050405020304" pitchFamily="18" charset="0"/>
              </a:rPr>
              <a:t> Institute for Solar Energy Systems</a:t>
            </a:r>
            <a:r>
              <a:rPr lang="en-US" sz="2300" dirty="0">
                <a:latin typeface="Times New Roman" panose="02020603050405020304" pitchFamily="18" charset="0"/>
                <a:cs typeface="Times New Roman" panose="02020603050405020304" pitchFamily="18" charset="0"/>
              </a:rPr>
              <a:t> (Germany): Utilizes dual-axis tracking in various research projects focused on optimizing solar technology.</a:t>
            </a:r>
          </a:p>
          <a:p>
            <a:pPr algn="just">
              <a:lnSpc>
                <a:spcPct val="120000"/>
              </a:lnSpc>
            </a:pPr>
            <a:r>
              <a:rPr lang="en-US" sz="2300" b="1" dirty="0">
                <a:latin typeface="Times New Roman" panose="02020603050405020304" pitchFamily="18" charset="0"/>
                <a:cs typeface="Times New Roman" panose="02020603050405020304" pitchFamily="18" charset="0"/>
              </a:rPr>
              <a:t>Commercial and Residential Installations</a:t>
            </a:r>
            <a:r>
              <a:rPr lang="en-US" sz="2300" dirty="0">
                <a:latin typeface="Times New Roman" panose="02020603050405020304" pitchFamily="18" charset="0"/>
                <a:cs typeface="Times New Roman" panose="02020603050405020304" pitchFamily="18" charset="0"/>
              </a:rPr>
              <a:t>:</a:t>
            </a:r>
          </a:p>
          <a:p>
            <a:pPr lvl="1" algn="just">
              <a:lnSpc>
                <a:spcPct val="120000"/>
              </a:lnSpc>
            </a:pPr>
            <a:r>
              <a:rPr lang="en-US" sz="2300" b="1" dirty="0">
                <a:latin typeface="Times New Roman" panose="02020603050405020304" pitchFamily="18" charset="0"/>
                <a:cs typeface="Times New Roman" panose="02020603050405020304" pitchFamily="18" charset="0"/>
              </a:rPr>
              <a:t>High-Efficiency Residential Systems</a:t>
            </a:r>
            <a:r>
              <a:rPr lang="en-US" sz="2300" dirty="0">
                <a:latin typeface="Times New Roman" panose="02020603050405020304" pitchFamily="18" charset="0"/>
                <a:cs typeface="Times New Roman" panose="02020603050405020304" pitchFamily="18" charset="0"/>
              </a:rPr>
              <a:t>: Some premium residential solar installations in regions with high solar irradiance use dual-axis trackers to maximize energy capture, although this is less common due to cost considerations.</a:t>
            </a:r>
          </a:p>
          <a:p>
            <a:pPr lvl="1" algn="just">
              <a:lnSpc>
                <a:spcPct val="120000"/>
              </a:lnSpc>
            </a:pPr>
            <a:r>
              <a:rPr lang="en-US" sz="2300" b="1" dirty="0">
                <a:latin typeface="Times New Roman" panose="02020603050405020304" pitchFamily="18" charset="0"/>
                <a:cs typeface="Times New Roman" panose="02020603050405020304" pitchFamily="18" charset="0"/>
              </a:rPr>
              <a:t>Corporate and Industrial Solar Installations</a:t>
            </a:r>
            <a:r>
              <a:rPr lang="en-US" sz="2300" dirty="0">
                <a:latin typeface="Times New Roman" panose="02020603050405020304" pitchFamily="18" charset="0"/>
                <a:cs typeface="Times New Roman" panose="02020603050405020304" pitchFamily="18" charset="0"/>
              </a:rPr>
              <a:t>: Businesses looking to maximize their renewable energy output may invest in dual-axis tracking systems.</a:t>
            </a:r>
          </a:p>
          <a:p>
            <a:pPr algn="just">
              <a:lnSpc>
                <a:spcPct val="150000"/>
              </a:lnSpc>
              <a:spcAft>
                <a:spcPts val="1000"/>
              </a:spcAft>
            </a:pP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algn="just">
              <a:lnSpc>
                <a:spcPct val="150000"/>
              </a:lnSpc>
              <a:spcAft>
                <a:spcPts val="1000"/>
              </a:spcAft>
            </a:pPr>
            <a:endParaRPr lang="en-US" sz="1800" dirty="0" smtClean="0">
              <a:latin typeface="Times New Roman" panose="02020603050405020304" pitchFamily="18" charset="0"/>
              <a:ea typeface="Cambria" panose="02040503050406030204" pitchFamily="18" charset="0"/>
              <a:cs typeface="Times New Roman" panose="02020603050405020304" pitchFamily="18" charset="0"/>
            </a:endParaRPr>
          </a:p>
          <a:p>
            <a:pPr algn="just">
              <a:lnSpc>
                <a:spcPct val="150000"/>
              </a:lnSpc>
              <a:spcAft>
                <a:spcPts val="1000"/>
              </a:spcAft>
            </a:pP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algn="just">
              <a:lnSpc>
                <a:spcPct val="150000"/>
              </a:lnSpc>
              <a:spcAft>
                <a:spcPts val="1000"/>
              </a:spcAft>
            </a:pPr>
            <a:endParaRPr lang="en-US" sz="1800" dirty="0" smtClean="0">
              <a:latin typeface="Times New Roman" panose="02020603050405020304" pitchFamily="18" charset="0"/>
              <a:ea typeface="Cambria" panose="02040503050406030204" pitchFamily="18" charset="0"/>
              <a:cs typeface="Times New Roman" panose="02020603050405020304" pitchFamily="18" charset="0"/>
            </a:endParaRPr>
          </a:p>
          <a:p>
            <a:pPr algn="just">
              <a:lnSpc>
                <a:spcPct val="150000"/>
              </a:lnSpc>
              <a:spcAft>
                <a:spcPts val="1000"/>
              </a:spcAft>
            </a:pPr>
            <a:endParaRPr lang="en-IN" sz="18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0BCC182-EACE-4169-AF11-8225BB77050D}" type="datetime1">
              <a:rPr lang="en-IN" smtClean="0"/>
              <a:t>01-06-2024</a:t>
            </a:fld>
            <a:endParaRPr lang="en-IN" dirty="0"/>
          </a:p>
        </p:txBody>
      </p:sp>
      <p:sp>
        <p:nvSpPr>
          <p:cNvPr id="5" name="Slide Number Placeholder 4"/>
          <p:cNvSpPr>
            <a:spLocks noGrp="1"/>
          </p:cNvSpPr>
          <p:nvPr>
            <p:ph type="sldNum" sz="quarter" idx="12"/>
          </p:nvPr>
        </p:nvSpPr>
        <p:spPr/>
        <p:txBody>
          <a:bodyPr/>
          <a:lstStyle/>
          <a:p>
            <a:fld id="{9F820D7B-87C6-4583-BB05-745C0A01675C}" type="slidenum">
              <a:rPr lang="en-IN" smtClean="0"/>
              <a:t>11</a:t>
            </a:fld>
            <a:endParaRPr lang="en-IN" dirty="0"/>
          </a:p>
        </p:txBody>
      </p:sp>
      <p:pic>
        <p:nvPicPr>
          <p:cNvPr id="11" name="Picture 10"/>
          <p:cNvPicPr>
            <a:picLocks noChangeAspect="1"/>
          </p:cNvPicPr>
          <p:nvPr/>
        </p:nvPicPr>
        <p:blipFill>
          <a:blip r:embed="rId2"/>
          <a:stretch>
            <a:fillRect/>
          </a:stretch>
        </p:blipFill>
        <p:spPr>
          <a:xfrm>
            <a:off x="25327" y="44624"/>
            <a:ext cx="985837" cy="862355"/>
          </a:xfrm>
          <a:prstGeom prst="rect">
            <a:avLst/>
          </a:prstGeom>
          <a:ln>
            <a:solidFill>
              <a:schemeClr val="bg1"/>
            </a:solidFill>
          </a:ln>
        </p:spPr>
      </p:pic>
    </p:spTree>
    <p:extLst>
      <p:ext uri="{BB962C8B-B14F-4D97-AF65-F5344CB8AC3E}">
        <p14:creationId xmlns:p14="http://schemas.microsoft.com/office/powerpoint/2010/main" val="18566666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2FCA08B-F211-426A-96A6-52905FE6AF0C}" type="datetime1">
              <a:rPr lang="en-IN" smtClean="0"/>
              <a:t>01-06-2024</a:t>
            </a:fld>
            <a:endParaRPr lang="en-IN" dirty="0"/>
          </a:p>
        </p:txBody>
      </p:sp>
      <p:sp>
        <p:nvSpPr>
          <p:cNvPr id="5" name="Slide Number Placeholder 4"/>
          <p:cNvSpPr>
            <a:spLocks noGrp="1"/>
          </p:cNvSpPr>
          <p:nvPr>
            <p:ph type="sldNum" sz="quarter" idx="12"/>
          </p:nvPr>
        </p:nvSpPr>
        <p:spPr/>
        <p:txBody>
          <a:bodyPr/>
          <a:lstStyle/>
          <a:p>
            <a:fld id="{9F820D7B-87C6-4583-BB05-745C0A01675C}" type="slidenum">
              <a:rPr lang="en-IN" smtClean="0"/>
              <a:t>12</a:t>
            </a:fld>
            <a:endParaRPr lang="en-IN" dirty="0"/>
          </a:p>
        </p:txBody>
      </p:sp>
      <p:sp>
        <p:nvSpPr>
          <p:cNvPr id="8" name="Title 1"/>
          <p:cNvSpPr>
            <a:spLocks noGrp="1"/>
          </p:cNvSpPr>
          <p:nvPr>
            <p:ph type="title"/>
          </p:nvPr>
        </p:nvSpPr>
        <p:spPr>
          <a:xfrm>
            <a:off x="534380" y="263665"/>
            <a:ext cx="8075240" cy="634082"/>
          </a:xfrm>
        </p:spPr>
        <p:txBody>
          <a:bodyPr>
            <a:normAutofit/>
          </a:bodyPr>
          <a:lstStyle/>
          <a:p>
            <a:pPr algn="ctr"/>
            <a:r>
              <a:rPr lang="en-IN" b="1" dirty="0">
                <a:latin typeface="Times New Roman" panose="02020603050405020304" pitchFamily="18" charset="0"/>
                <a:cs typeface="Times New Roman" panose="02020603050405020304" pitchFamily="18" charset="0"/>
              </a:rPr>
              <a:t>Conclusion</a:t>
            </a:r>
            <a:r>
              <a:rPr lang="en-IN" u="sng" dirty="0">
                <a:latin typeface="Times New Roman" panose="02020603050405020304" pitchFamily="18" charset="0"/>
                <a:cs typeface="Times New Roman" panose="02020603050405020304" pitchFamily="18" charset="0"/>
              </a:rPr>
              <a:t> </a:t>
            </a:r>
          </a:p>
        </p:txBody>
      </p:sp>
      <p:sp>
        <p:nvSpPr>
          <p:cNvPr id="9" name="Content Placeholder 2"/>
          <p:cNvSpPr>
            <a:spLocks noGrp="1"/>
          </p:cNvSpPr>
          <p:nvPr>
            <p:ph idx="1"/>
          </p:nvPr>
        </p:nvSpPr>
        <p:spPr>
          <a:xfrm>
            <a:off x="354360" y="1311864"/>
            <a:ext cx="8435280" cy="4278742"/>
          </a:xfrm>
        </p:spPr>
        <p:txBody>
          <a:bodyPr>
            <a:normAutofit/>
          </a:bodyPr>
          <a:lstStyle/>
          <a:p>
            <a:pPr marL="0" indent="0" algn="just">
              <a:lnSpc>
                <a:spcPct val="115000"/>
              </a:lnSpc>
              <a:spcAft>
                <a:spcPts val="1000"/>
              </a:spcAft>
              <a:buNone/>
            </a:pPr>
            <a:endParaRPr lang="en-US" sz="1800" dirty="0">
              <a:effectLst/>
              <a:latin typeface="Times New Roman" panose="02020603050405020304" pitchFamily="18" charset="0"/>
              <a:ea typeface="Cambria" panose="02040503050406030204" pitchFamily="18" charset="0"/>
              <a:cs typeface="Times New Roman" panose="02020603050405020304" pitchFamily="18" charset="0"/>
            </a:endParaRPr>
          </a:p>
          <a:p>
            <a:pPr algn="just">
              <a:lnSpc>
                <a:spcPct val="150000"/>
              </a:lnSpc>
              <a:spcAft>
                <a:spcPts val="1000"/>
              </a:spcAft>
            </a:pPr>
            <a:r>
              <a:rPr lang="en-US" sz="1800" dirty="0">
                <a:latin typeface="Times New Roman" panose="02020603050405020304" pitchFamily="18" charset="0"/>
                <a:ea typeface="Cambria" panose="02040503050406030204" pitchFamily="18" charset="0"/>
                <a:cs typeface="Times New Roman" panose="02020603050405020304" pitchFamily="18" charset="0"/>
              </a:rPr>
              <a:t>The system's ability to autonomously track the sun's movement has led to a significant increase in energy output compared to fixed solar panel installations. By continuously aligning the panels with the sun, the system has harnessed a greater portion of available sunlight.</a:t>
            </a:r>
          </a:p>
          <a:p>
            <a:pPr algn="just">
              <a:lnSpc>
                <a:spcPct val="150000"/>
              </a:lnSpc>
              <a:spcAft>
                <a:spcPts val="1000"/>
              </a:spcAft>
            </a:pPr>
            <a:r>
              <a:rPr lang="en-US" sz="1800" dirty="0">
                <a:latin typeface="Times New Roman" panose="02020603050405020304" pitchFamily="18" charset="0"/>
                <a:ea typeface="Cambria" panose="02040503050406030204" pitchFamily="18" charset="0"/>
                <a:cs typeface="Times New Roman" panose="02020603050405020304" pitchFamily="18" charset="0"/>
              </a:rPr>
              <a:t>The project has served as an educational tool, providing insights into microcontroller programming, sensor integration, and mechanical design. It has inspired learning and innovation in the realm of renewable energy technologies</a:t>
            </a:r>
            <a:r>
              <a:rPr lang="en-US" sz="1800" dirty="0" smtClean="0">
                <a:latin typeface="Times New Roman" panose="02020603050405020304" pitchFamily="18" charset="0"/>
                <a:ea typeface="Cambria" panose="02040503050406030204" pitchFamily="18" charset="0"/>
                <a:cs typeface="Times New Roman" panose="02020603050405020304" pitchFamily="18" charset="0"/>
              </a:rPr>
              <a:t>.</a:t>
            </a:r>
          </a:p>
          <a:p>
            <a:pPr algn="just">
              <a:lnSpc>
                <a:spcPct val="150000"/>
              </a:lnSpc>
              <a:spcAft>
                <a:spcPts val="1000"/>
              </a:spcAft>
            </a:pP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algn="just">
              <a:lnSpc>
                <a:spcPct val="150000"/>
              </a:lnSpc>
              <a:spcAft>
                <a:spcPts val="1000"/>
              </a:spcAft>
            </a:pPr>
            <a:endParaRPr lang="en-US" sz="1800" dirty="0" smtClean="0">
              <a:latin typeface="Times New Roman" panose="02020603050405020304" pitchFamily="18" charset="0"/>
              <a:ea typeface="Cambria" panose="02040503050406030204" pitchFamily="18" charset="0"/>
              <a:cs typeface="Times New Roman" panose="02020603050405020304" pitchFamily="18" charset="0"/>
            </a:endParaRPr>
          </a:p>
          <a:p>
            <a:pPr algn="just">
              <a:lnSpc>
                <a:spcPct val="150000"/>
              </a:lnSpc>
              <a:spcAft>
                <a:spcPts val="1000"/>
              </a:spcAft>
            </a:pP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algn="just">
              <a:lnSpc>
                <a:spcPct val="150000"/>
              </a:lnSpc>
              <a:spcAft>
                <a:spcPts val="1000"/>
              </a:spcAft>
            </a:pPr>
            <a:endParaRPr lang="en-US" sz="1800" dirty="0" smtClean="0">
              <a:latin typeface="Times New Roman" panose="02020603050405020304" pitchFamily="18" charset="0"/>
              <a:ea typeface="Cambria" panose="02040503050406030204" pitchFamily="18" charset="0"/>
              <a:cs typeface="Times New Roman" panose="02020603050405020304" pitchFamily="18" charset="0"/>
            </a:endParaRPr>
          </a:p>
          <a:p>
            <a:pPr algn="just">
              <a:lnSpc>
                <a:spcPct val="150000"/>
              </a:lnSpc>
              <a:spcAft>
                <a:spcPts val="1000"/>
              </a:spcAft>
            </a:pPr>
            <a:endParaRPr lang="en-IN" sz="1800" dirty="0">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10" name="Picture 9"/>
          <p:cNvPicPr>
            <a:picLocks noChangeAspect="1"/>
          </p:cNvPicPr>
          <p:nvPr/>
        </p:nvPicPr>
        <p:blipFill>
          <a:blip r:embed="rId2"/>
          <a:stretch>
            <a:fillRect/>
          </a:stretch>
        </p:blipFill>
        <p:spPr>
          <a:xfrm>
            <a:off x="25327" y="44624"/>
            <a:ext cx="985837" cy="862355"/>
          </a:xfrm>
          <a:prstGeom prst="rect">
            <a:avLst/>
          </a:prstGeom>
          <a:ln>
            <a:solidFill>
              <a:schemeClr val="bg1"/>
            </a:solidFill>
          </a:ln>
        </p:spPr>
      </p:pic>
    </p:spTree>
    <p:extLst>
      <p:ext uri="{BB962C8B-B14F-4D97-AF65-F5344CB8AC3E}">
        <p14:creationId xmlns:p14="http://schemas.microsoft.com/office/powerpoint/2010/main" val="23648457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0384" y="272897"/>
            <a:ext cx="8075240" cy="634082"/>
          </a:xfrm>
        </p:spPr>
        <p:txBody>
          <a:bodyPr>
            <a:normAutofit/>
          </a:bodyPr>
          <a:lstStyle/>
          <a:p>
            <a:pPr algn="ctr"/>
            <a:r>
              <a:rPr lang="en-IN" b="1" dirty="0">
                <a:latin typeface="Times New Roman" panose="02020603050405020304" pitchFamily="18" charset="0"/>
                <a:cs typeface="Times New Roman" panose="02020603050405020304" pitchFamily="18" charset="0"/>
              </a:rPr>
              <a:t>Future scope</a:t>
            </a:r>
            <a:r>
              <a:rPr lang="en-IN"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a:xfrm>
            <a:off x="179512" y="1045689"/>
            <a:ext cx="8856984" cy="5493224"/>
          </a:xfrm>
        </p:spPr>
        <p:txBody>
          <a:bodyPr>
            <a:normAutofit lnSpcReduction="10000"/>
          </a:bodyPr>
          <a:lstStyle/>
          <a:p>
            <a:pPr marL="0" indent="0" algn="just">
              <a:lnSpc>
                <a:spcPct val="150000"/>
              </a:lnSpc>
              <a:buNone/>
            </a:pPr>
            <a:r>
              <a:rPr lang="en-US" sz="1800" dirty="0" smtClean="0">
                <a:latin typeface="Times New Roman" panose="02020603050405020304" pitchFamily="18" charset="0"/>
                <a:cs typeface="Times New Roman" panose="02020603050405020304" pitchFamily="18" charset="0"/>
              </a:rPr>
              <a:t>As technology advances, the cost and complexity of dual-axis tracking systems are expected to decrease. Innovations in materials, control systems, and predictive algorithms could make dual-axis trackers more accessible and efficient. This may lead to broader adoption, particularly as the global emphasis on renewable energy intensifies.</a:t>
            </a:r>
            <a:endParaRPr lang="en-US" sz="1800" b="1" dirty="0" smtClean="0">
              <a:latin typeface="Times New Roman" panose="02020603050405020304" pitchFamily="18" charset="0"/>
              <a:ea typeface="Cambria" panose="02040503050406030204" pitchFamily="18" charset="0"/>
              <a:cs typeface="Times New Roman" panose="02020603050405020304" pitchFamily="18" charset="0"/>
            </a:endParaRPr>
          </a:p>
          <a:p>
            <a:pPr algn="just">
              <a:lnSpc>
                <a:spcPct val="150000"/>
              </a:lnSpc>
              <a:buFont typeface="Wingdings" pitchFamily="2" charset="2"/>
              <a:buChar char="§"/>
            </a:pPr>
            <a:r>
              <a:rPr lang="en-US" sz="1800" b="1" dirty="0" smtClean="0">
                <a:latin typeface="Times New Roman" panose="02020603050405020304" pitchFamily="18" charset="0"/>
                <a:ea typeface="Cambria" panose="02040503050406030204" pitchFamily="18" charset="0"/>
                <a:cs typeface="Times New Roman" panose="02020603050405020304" pitchFamily="18" charset="0"/>
              </a:rPr>
              <a:t>Advanced </a:t>
            </a:r>
            <a:r>
              <a:rPr lang="en-US" sz="1800" b="1" dirty="0">
                <a:latin typeface="Times New Roman" panose="02020603050405020304" pitchFamily="18" charset="0"/>
                <a:ea typeface="Cambria" panose="02040503050406030204" pitchFamily="18" charset="0"/>
                <a:cs typeface="Times New Roman" panose="02020603050405020304" pitchFamily="18" charset="0"/>
              </a:rPr>
              <a:t>Tracking Algorithms:</a:t>
            </a:r>
            <a:r>
              <a:rPr lang="en-US" sz="1800" dirty="0">
                <a:latin typeface="Times New Roman" panose="02020603050405020304" pitchFamily="18" charset="0"/>
                <a:ea typeface="Cambria" panose="02040503050406030204" pitchFamily="18" charset="0"/>
                <a:cs typeface="Times New Roman" panose="02020603050405020304" pitchFamily="18" charset="0"/>
              </a:rPr>
              <a:t> Enhance the tracking algorithm by incorporating more complex calculations, considering factors like atmospheric conditions, cloud cover, and seasonal variations. This could lead to even more accurate and efficient sun tracking.</a:t>
            </a:r>
          </a:p>
          <a:p>
            <a:pPr algn="just">
              <a:lnSpc>
                <a:spcPct val="150000"/>
              </a:lnSpc>
              <a:buFont typeface="Wingdings" pitchFamily="2" charset="2"/>
              <a:buChar char="§"/>
            </a:pPr>
            <a:r>
              <a:rPr lang="en-US" sz="1800" b="1" dirty="0">
                <a:latin typeface="Times New Roman" panose="02020603050405020304" pitchFamily="18" charset="0"/>
                <a:ea typeface="Cambria" panose="02040503050406030204" pitchFamily="18" charset="0"/>
                <a:cs typeface="Times New Roman" panose="02020603050405020304" pitchFamily="18" charset="0"/>
              </a:rPr>
              <a:t>Hybrid Energy System:</a:t>
            </a:r>
            <a:r>
              <a:rPr lang="en-US" sz="1800" dirty="0">
                <a:latin typeface="Times New Roman" panose="02020603050405020304" pitchFamily="18" charset="0"/>
                <a:ea typeface="Cambria" panose="02040503050406030204" pitchFamily="18" charset="0"/>
                <a:cs typeface="Times New Roman" panose="02020603050405020304" pitchFamily="18" charset="0"/>
              </a:rPr>
              <a:t> Combining solar Tracking with other renewable energy sources like wind or hydropower can lead to the development of Hybrid energy system that provides continuous and stable power generation</a:t>
            </a:r>
          </a:p>
          <a:p>
            <a:pPr algn="just">
              <a:lnSpc>
                <a:spcPct val="150000"/>
              </a:lnSpc>
              <a:buFont typeface="Wingdings" pitchFamily="2" charset="2"/>
              <a:buChar char="§"/>
            </a:pPr>
            <a:r>
              <a:rPr lang="en-US" sz="1800" b="1" dirty="0">
                <a:latin typeface="Times New Roman" panose="02020603050405020304" pitchFamily="18" charset="0"/>
                <a:ea typeface="Cambria" panose="02040503050406030204" pitchFamily="18" charset="0"/>
                <a:cs typeface="Times New Roman" panose="02020603050405020304" pitchFamily="18" charset="0"/>
              </a:rPr>
              <a:t>Dual-Axis Tracking:</a:t>
            </a:r>
            <a:r>
              <a:rPr lang="en-US" sz="1800" dirty="0">
                <a:latin typeface="Times New Roman" panose="02020603050405020304" pitchFamily="18" charset="0"/>
                <a:ea typeface="Cambria" panose="02040503050406030204" pitchFamily="18" charset="0"/>
                <a:cs typeface="Times New Roman" panose="02020603050405020304" pitchFamily="18" charset="0"/>
              </a:rPr>
              <a:t> Consider upgrading the system to dual-axis tracking, which includes vertical as well as horizontal movement. Dual-axis tracking can capture sunlight from a wider range of angles, further improving energy capture.</a:t>
            </a:r>
          </a:p>
        </p:txBody>
      </p:sp>
      <p:sp>
        <p:nvSpPr>
          <p:cNvPr id="5" name="Date Placeholder 4"/>
          <p:cNvSpPr>
            <a:spLocks noGrp="1"/>
          </p:cNvSpPr>
          <p:nvPr>
            <p:ph type="dt" sz="half" idx="10"/>
          </p:nvPr>
        </p:nvSpPr>
        <p:spPr/>
        <p:txBody>
          <a:bodyPr/>
          <a:lstStyle/>
          <a:p>
            <a:fld id="{C6508608-9FB0-446E-BB54-E0612A45251D}" type="datetime1">
              <a:rPr lang="en-IN" smtClean="0"/>
              <a:t>01-06-2024</a:t>
            </a:fld>
            <a:endParaRPr lang="en-IN" dirty="0"/>
          </a:p>
        </p:txBody>
      </p:sp>
      <p:sp>
        <p:nvSpPr>
          <p:cNvPr id="6" name="Slide Number Placeholder 5"/>
          <p:cNvSpPr>
            <a:spLocks noGrp="1"/>
          </p:cNvSpPr>
          <p:nvPr>
            <p:ph type="sldNum" sz="quarter" idx="12"/>
          </p:nvPr>
        </p:nvSpPr>
        <p:spPr/>
        <p:txBody>
          <a:bodyPr/>
          <a:lstStyle/>
          <a:p>
            <a:fld id="{9F820D7B-87C6-4583-BB05-745C0A01675C}" type="slidenum">
              <a:rPr lang="en-IN" smtClean="0"/>
              <a:t>13</a:t>
            </a:fld>
            <a:endParaRPr lang="en-IN" dirty="0"/>
          </a:p>
        </p:txBody>
      </p:sp>
      <p:pic>
        <p:nvPicPr>
          <p:cNvPr id="12" name="Picture 11"/>
          <p:cNvPicPr>
            <a:picLocks noChangeAspect="1"/>
          </p:cNvPicPr>
          <p:nvPr/>
        </p:nvPicPr>
        <p:blipFill>
          <a:blip r:embed="rId2"/>
          <a:stretch>
            <a:fillRect/>
          </a:stretch>
        </p:blipFill>
        <p:spPr>
          <a:xfrm>
            <a:off x="25327" y="44624"/>
            <a:ext cx="985837" cy="862355"/>
          </a:xfrm>
          <a:prstGeom prst="rect">
            <a:avLst/>
          </a:prstGeom>
          <a:ln>
            <a:solidFill>
              <a:schemeClr val="bg1"/>
            </a:solidFill>
          </a:ln>
        </p:spPr>
      </p:pic>
    </p:spTree>
    <p:extLst>
      <p:ext uri="{BB962C8B-B14F-4D97-AF65-F5344CB8AC3E}">
        <p14:creationId xmlns:p14="http://schemas.microsoft.com/office/powerpoint/2010/main" val="37021595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802" y="272897"/>
            <a:ext cx="8075240" cy="634082"/>
          </a:xfrm>
        </p:spPr>
        <p:txBody>
          <a:bodyPr>
            <a:normAutofit/>
          </a:bodyPr>
          <a:lstStyle/>
          <a:p>
            <a:pPr algn="ctr"/>
            <a:r>
              <a:rPr lang="en-IN" b="1" dirty="0">
                <a:latin typeface="Times New Roman" panose="02020603050405020304" pitchFamily="18" charset="0"/>
                <a:cs typeface="Times New Roman" panose="02020603050405020304" pitchFamily="18" charset="0"/>
              </a:rPr>
              <a:t>References</a:t>
            </a:r>
            <a:r>
              <a:rPr lang="en-IN" u="sng"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a:xfrm>
            <a:off x="323528" y="1268761"/>
            <a:ext cx="8191822" cy="5120856"/>
          </a:xfrm>
        </p:spPr>
        <p:txBody>
          <a:bodyPr>
            <a:noAutofit/>
          </a:bodyPr>
          <a:lstStyle/>
          <a:p>
            <a:pPr marL="355600" indent="0" algn="just">
              <a:buNone/>
            </a:pPr>
            <a:endParaRPr lang="en-IN" sz="1800" dirty="0">
              <a:latin typeface="Times New Roman" panose="02020603050405020304" pitchFamily="18" charset="0"/>
              <a:ea typeface="Cambria" panose="02040503050406030204" pitchFamily="18" charset="0"/>
              <a:cs typeface="Times New Roman" panose="02020603050405020304" pitchFamily="18" charset="0"/>
            </a:endParaRPr>
          </a:p>
          <a:p>
            <a:pPr marL="355600" indent="0" algn="just">
              <a:lnSpc>
                <a:spcPct val="150000"/>
              </a:lnSpc>
              <a:buNone/>
            </a:pPr>
            <a:r>
              <a:rPr lang="en-US" sz="1800" dirty="0">
                <a:latin typeface="Times New Roman" panose="02020603050405020304" pitchFamily="18" charset="0"/>
                <a:cs typeface="Times New Roman" panose="02020603050405020304" pitchFamily="18" charset="0"/>
              </a:rPr>
              <a:t>[1</a:t>
            </a:r>
            <a:r>
              <a:rPr lang="en-US" sz="1800" dirty="0" smtClean="0">
                <a:latin typeface="Times New Roman" panose="02020603050405020304" pitchFamily="18" charset="0"/>
                <a:cs typeface="Times New Roman" panose="02020603050405020304" pitchFamily="18" charset="0"/>
              </a:rPr>
              <a:t>] </a:t>
            </a:r>
            <a:r>
              <a:rPr lang="en-IN" sz="1800" b="1" dirty="0" smtClean="0">
                <a:latin typeface="Times New Roman" panose="02020603050405020304" pitchFamily="18" charset="0"/>
                <a:cs typeface="Times New Roman" panose="02020603050405020304" pitchFamily="18" charset="0"/>
              </a:rPr>
              <a:t>F</a:t>
            </a:r>
            <a:r>
              <a:rPr lang="en-IN" sz="1800" b="1" dirty="0">
                <a:latin typeface="Times New Roman" panose="02020603050405020304" pitchFamily="18" charset="0"/>
                <a:cs typeface="Times New Roman" panose="02020603050405020304" pitchFamily="18" charset="0"/>
              </a:rPr>
              <a:t>. Harashima and H. Inaba</a:t>
            </a:r>
            <a:r>
              <a:rPr lang="en-IN" sz="1800" dirty="0">
                <a:latin typeface="Times New Roman" panose="02020603050405020304" pitchFamily="18" charset="0"/>
                <a:cs typeface="Times New Roman" panose="02020603050405020304" pitchFamily="18" charset="0"/>
              </a:rPr>
              <a:t>, “Microprocessor- Controlled SIT Inverter for Solar Energy System”, IEEE Trans. On Industrial Electronics, vol. IE-34, no. 1, pp50-55, Feb. 1985.</a:t>
            </a:r>
          </a:p>
          <a:p>
            <a:pPr marL="355600" indent="0" algn="just">
              <a:lnSpc>
                <a:spcPct val="150000"/>
              </a:lnSpc>
              <a:buNone/>
            </a:pPr>
            <a:r>
              <a:rPr lang="en-US" sz="1800" dirty="0">
                <a:latin typeface="Times New Roman" panose="02020603050405020304" pitchFamily="18" charset="0"/>
                <a:cs typeface="Times New Roman" panose="02020603050405020304" pitchFamily="18" charset="0"/>
              </a:rPr>
              <a:t>[2] </a:t>
            </a:r>
            <a:r>
              <a:rPr lang="en-US" sz="1800" b="1" dirty="0">
                <a:latin typeface="Times New Roman" panose="02020603050405020304" pitchFamily="18" charset="0"/>
                <a:cs typeface="Times New Roman" panose="02020603050405020304" pitchFamily="18" charset="0"/>
              </a:rPr>
              <a:t>C.R.Sullivan and M.J.Powers</a:t>
            </a:r>
            <a:r>
              <a:rPr lang="en-US" sz="1800" dirty="0">
                <a:latin typeface="Times New Roman" panose="02020603050405020304" pitchFamily="18" charset="0"/>
                <a:cs typeface="Times New Roman" panose="02020603050405020304" pitchFamily="18" charset="0"/>
              </a:rPr>
              <a:t>, “A High-Efficiency Maximum Power Point Tracking for Photovoltaic Arrays in a Solar-Power Race Vehicle”, IEEE</a:t>
            </a:r>
            <a:r>
              <a:rPr lang="en-IN" sz="1800" dirty="0">
                <a:latin typeface="Times New Roman" panose="02020603050405020304" pitchFamily="18" charset="0"/>
                <a:cs typeface="Times New Roman" panose="02020603050405020304" pitchFamily="18" charset="0"/>
              </a:rPr>
              <a:t>PESC‘93, pp.574-580, 1993.</a:t>
            </a:r>
          </a:p>
          <a:p>
            <a:pPr marL="355600" indent="0" algn="just">
              <a:lnSpc>
                <a:spcPct val="150000"/>
              </a:lnSpc>
              <a:buNone/>
            </a:pPr>
            <a:r>
              <a:rPr lang="en-US" sz="1800" dirty="0">
                <a:latin typeface="Times New Roman" panose="02020603050405020304" pitchFamily="18" charset="0"/>
                <a:cs typeface="Times New Roman" panose="02020603050405020304" pitchFamily="18" charset="0"/>
              </a:rPr>
              <a:t>[3</a:t>
            </a:r>
            <a:r>
              <a:rPr lang="en-US" sz="1800" dirty="0" smtClean="0">
                <a:latin typeface="Times New Roman" panose="02020603050405020304" pitchFamily="18" charset="0"/>
                <a:cs typeface="Times New Roman" panose="02020603050405020304" pitchFamily="18" charset="0"/>
              </a:rPr>
              <a:t>] </a:t>
            </a:r>
            <a:r>
              <a:rPr lang="en-IN" sz="1800" b="1" dirty="0" smtClean="0">
                <a:latin typeface="Times New Roman" panose="02020603050405020304" pitchFamily="18" charset="0"/>
                <a:cs typeface="Times New Roman" panose="02020603050405020304" pitchFamily="18" charset="0"/>
              </a:rPr>
              <a:t>N</a:t>
            </a:r>
            <a:r>
              <a:rPr lang="en-IN" sz="1800" b="1" dirty="0">
                <a:latin typeface="Times New Roman" panose="02020603050405020304" pitchFamily="18" charset="0"/>
                <a:cs typeface="Times New Roman" panose="02020603050405020304" pitchFamily="18" charset="0"/>
              </a:rPr>
              <a:t>. Femia,D. Granozio,G. Petrone,G. Spagnuolo</a:t>
            </a:r>
            <a:r>
              <a:rPr lang="en-IN" sz="1800" dirty="0">
                <a:latin typeface="Times New Roman" panose="02020603050405020304" pitchFamily="18" charset="0"/>
                <a:cs typeface="Times New Roman" panose="02020603050405020304" pitchFamily="18" charset="0"/>
              </a:rPr>
              <a:t>, “Smart Sun Tracking System”, IEEE, TRANSACTIONS ON AEROSPACE AND ELECTRONIC SYSTEMS, Vol. 42, NO. 3 JULY 2006.</a:t>
            </a:r>
          </a:p>
        </p:txBody>
      </p:sp>
      <p:sp>
        <p:nvSpPr>
          <p:cNvPr id="6" name="Date Placeholder 5"/>
          <p:cNvSpPr>
            <a:spLocks noGrp="1"/>
          </p:cNvSpPr>
          <p:nvPr>
            <p:ph type="dt" sz="half" idx="10"/>
          </p:nvPr>
        </p:nvSpPr>
        <p:spPr/>
        <p:txBody>
          <a:bodyPr/>
          <a:lstStyle/>
          <a:p>
            <a:fld id="{07C0F406-C6EA-46C8-AF38-2B7C3EEC60C1}" type="datetime1">
              <a:rPr lang="en-IN" smtClean="0"/>
              <a:t>01-06-2024</a:t>
            </a:fld>
            <a:endParaRPr lang="en-IN" dirty="0"/>
          </a:p>
        </p:txBody>
      </p:sp>
      <p:sp>
        <p:nvSpPr>
          <p:cNvPr id="7" name="Slide Number Placeholder 6"/>
          <p:cNvSpPr>
            <a:spLocks noGrp="1"/>
          </p:cNvSpPr>
          <p:nvPr>
            <p:ph type="sldNum" sz="quarter" idx="12"/>
          </p:nvPr>
        </p:nvSpPr>
        <p:spPr/>
        <p:txBody>
          <a:bodyPr/>
          <a:lstStyle/>
          <a:p>
            <a:fld id="{9F820D7B-87C6-4583-BB05-745C0A01675C}" type="slidenum">
              <a:rPr lang="en-IN" smtClean="0"/>
              <a:t>14</a:t>
            </a:fld>
            <a:endParaRPr lang="en-IN" dirty="0"/>
          </a:p>
        </p:txBody>
      </p:sp>
      <p:pic>
        <p:nvPicPr>
          <p:cNvPr id="13" name="Picture 12"/>
          <p:cNvPicPr>
            <a:picLocks noChangeAspect="1"/>
          </p:cNvPicPr>
          <p:nvPr/>
        </p:nvPicPr>
        <p:blipFill>
          <a:blip r:embed="rId2"/>
          <a:stretch>
            <a:fillRect/>
          </a:stretch>
        </p:blipFill>
        <p:spPr>
          <a:xfrm>
            <a:off x="25327" y="44624"/>
            <a:ext cx="985837" cy="862355"/>
          </a:xfrm>
          <a:prstGeom prst="rect">
            <a:avLst/>
          </a:prstGeom>
          <a:ln>
            <a:solidFill>
              <a:schemeClr val="bg1"/>
            </a:solidFill>
          </a:ln>
        </p:spPr>
      </p:pic>
    </p:spTree>
    <p:extLst>
      <p:ext uri="{BB962C8B-B14F-4D97-AF65-F5344CB8AC3E}">
        <p14:creationId xmlns:p14="http://schemas.microsoft.com/office/powerpoint/2010/main" val="32409635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8335F276-FBD0-0CB9-1899-78565891A21D}"/>
              </a:ext>
            </a:extLst>
          </p:cNvPr>
          <p:cNvSpPr>
            <a:spLocks noGrp="1"/>
          </p:cNvSpPr>
          <p:nvPr>
            <p:ph type="dt" sz="half" idx="10"/>
          </p:nvPr>
        </p:nvSpPr>
        <p:spPr/>
        <p:txBody>
          <a:bodyPr/>
          <a:lstStyle/>
          <a:p>
            <a:fld id="{1271CAAB-B58F-4ED8-8D4C-2828961969A5}" type="datetime1">
              <a:rPr lang="en-IN" smtClean="0"/>
              <a:t>01-06-2024</a:t>
            </a:fld>
            <a:endParaRPr lang="en-IN" dirty="0"/>
          </a:p>
        </p:txBody>
      </p:sp>
      <p:sp>
        <p:nvSpPr>
          <p:cNvPr id="3" name="Slide Number Placeholder 2">
            <a:extLst>
              <a:ext uri="{FF2B5EF4-FFF2-40B4-BE49-F238E27FC236}">
                <a16:creationId xmlns:a16="http://schemas.microsoft.com/office/drawing/2014/main" xmlns="" id="{DD38A3F0-6971-A10B-17A5-84256BBECF10}"/>
              </a:ext>
            </a:extLst>
          </p:cNvPr>
          <p:cNvSpPr>
            <a:spLocks noGrp="1"/>
          </p:cNvSpPr>
          <p:nvPr>
            <p:ph type="sldNum" sz="quarter" idx="12"/>
          </p:nvPr>
        </p:nvSpPr>
        <p:spPr/>
        <p:txBody>
          <a:bodyPr/>
          <a:lstStyle/>
          <a:p>
            <a:fld id="{9F820D7B-87C6-4583-BB05-745C0A01675C}" type="slidenum">
              <a:rPr lang="en-IN" smtClean="0"/>
              <a:t>15</a:t>
            </a:fld>
            <a:endParaRPr lang="en-IN" dirty="0"/>
          </a:p>
        </p:txBody>
      </p:sp>
      <p:sp>
        <p:nvSpPr>
          <p:cNvPr id="4" name="TextBox 3">
            <a:extLst>
              <a:ext uri="{FF2B5EF4-FFF2-40B4-BE49-F238E27FC236}">
                <a16:creationId xmlns:a16="http://schemas.microsoft.com/office/drawing/2014/main" xmlns="" id="{2DC34AD9-8BDE-7417-13B4-DDB90A6ECC39}"/>
              </a:ext>
            </a:extLst>
          </p:cNvPr>
          <p:cNvSpPr txBox="1"/>
          <p:nvPr/>
        </p:nvSpPr>
        <p:spPr>
          <a:xfrm>
            <a:off x="628650" y="943209"/>
            <a:ext cx="7975798" cy="5493812"/>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[4] </a:t>
            </a:r>
            <a:r>
              <a:rPr lang="en-IN" b="1" dirty="0">
                <a:latin typeface="Times New Roman" panose="02020603050405020304" pitchFamily="18" charset="0"/>
                <a:cs typeface="Times New Roman" panose="02020603050405020304" pitchFamily="18" charset="0"/>
              </a:rPr>
              <a:t>Omar Aliman, Ismail Daut</a:t>
            </a:r>
            <a:r>
              <a:rPr lang="en-IN" dirty="0">
                <a:latin typeface="Times New Roman" panose="02020603050405020304" pitchFamily="18" charset="0"/>
                <a:cs typeface="Times New Roman" panose="02020603050405020304" pitchFamily="18" charset="0"/>
              </a:rPr>
              <a:t>, “Rotation-Elevation of Sun Tracking Mode to Gain High Concentration Solar Energy”, IEEE Conference, 12-14, Page(s):551 – 555, April 2007.</a:t>
            </a:r>
          </a:p>
          <a:p>
            <a:pPr algn="just">
              <a:lnSpc>
                <a:spcPct val="150000"/>
              </a:lnSpc>
            </a:pPr>
            <a:r>
              <a:rPr lang="en-US" dirty="0">
                <a:latin typeface="Times New Roman" panose="02020603050405020304" pitchFamily="18" charset="0"/>
                <a:cs typeface="Times New Roman" panose="02020603050405020304" pitchFamily="18" charset="0"/>
              </a:rPr>
              <a:t>[5] </a:t>
            </a:r>
            <a:r>
              <a:rPr lang="en-IN" b="1" dirty="0">
                <a:latin typeface="Times New Roman" panose="02020603050405020304" pitchFamily="18" charset="0"/>
                <a:cs typeface="Times New Roman" panose="02020603050405020304" pitchFamily="18" charset="0"/>
              </a:rPr>
              <a:t>A. Kassem M. Hamad</a:t>
            </a:r>
            <a:r>
              <a:rPr lang="en-IN" dirty="0">
                <a:latin typeface="Times New Roman" panose="02020603050405020304" pitchFamily="18" charset="0"/>
                <a:cs typeface="Times New Roman" panose="02020603050405020304" pitchFamily="18" charset="0"/>
              </a:rPr>
              <a:t>, “A microcontroller-based multifunction solar tracking system”, IEEE International Systems Conference, Pages: 13 – 16,DOI:10.1109/SYSCON,2011.</a:t>
            </a:r>
          </a:p>
          <a:p>
            <a:pPr algn="just">
              <a:lnSpc>
                <a:spcPct val="150000"/>
              </a:lnSpc>
            </a:pPr>
            <a:r>
              <a:rPr lang="en-US" dirty="0">
                <a:latin typeface="Times New Roman" panose="02020603050405020304" pitchFamily="18" charset="0"/>
                <a:cs typeface="Times New Roman" panose="02020603050405020304" pitchFamily="18" charset="0"/>
              </a:rPr>
              <a:t>[6] </a:t>
            </a:r>
            <a:r>
              <a:rPr lang="en-US" b="1" dirty="0">
                <a:latin typeface="Times New Roman" panose="02020603050405020304" pitchFamily="18" charset="0"/>
                <a:cs typeface="Times New Roman" panose="02020603050405020304" pitchFamily="18" charset="0"/>
              </a:rPr>
              <a:t>S. Racharla, K. Rajan and K. R. S. Kumar</a:t>
            </a:r>
            <a:r>
              <a:rPr lang="en-US" dirty="0">
                <a:latin typeface="Times New Roman" panose="02020603050405020304" pitchFamily="18" charset="0"/>
                <a:cs typeface="Times New Roman" panose="02020603050405020304" pitchFamily="18" charset="0"/>
              </a:rPr>
              <a:t>, "A fuzzy logic controlled single axis solar tracking system", </a:t>
            </a:r>
            <a:r>
              <a:rPr lang="en-US" i="1" dirty="0">
                <a:latin typeface="Times New Roman" panose="02020603050405020304" pitchFamily="18" charset="0"/>
                <a:cs typeface="Times New Roman" panose="02020603050405020304" pitchFamily="18" charset="0"/>
              </a:rPr>
              <a:t>Applied Mechanics and Materials</a:t>
            </a:r>
            <a:r>
              <a:rPr lang="en-US" dirty="0">
                <a:latin typeface="Times New Roman" panose="02020603050405020304" pitchFamily="18" charset="0"/>
                <a:cs typeface="Times New Roman" panose="02020603050405020304" pitchFamily="18" charset="0"/>
              </a:rPr>
              <a:t>, vol. 787, pp. 893-898, Aug. 2015</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dirty="0">
                <a:latin typeface="Times New Roman" panose="02020603050405020304" pitchFamily="18" charset="0"/>
                <a:cs typeface="Times New Roman" panose="02020603050405020304" pitchFamily="18" charset="0"/>
              </a:rPr>
              <a:t>[7</a:t>
            </a:r>
            <a:r>
              <a:rPr lang="en-US"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S</a:t>
            </a:r>
            <a:r>
              <a:rPr lang="en-US" b="1" dirty="0">
                <a:latin typeface="Times New Roman" panose="02020603050405020304" pitchFamily="18" charset="0"/>
                <a:cs typeface="Times New Roman" panose="02020603050405020304" pitchFamily="18" charset="0"/>
              </a:rPr>
              <a:t>. Yilmaz et al.</a:t>
            </a:r>
            <a:r>
              <a:rPr lang="en-US" dirty="0">
                <a:latin typeface="Times New Roman" panose="02020603050405020304" pitchFamily="18" charset="0"/>
                <a:cs typeface="Times New Roman" panose="02020603050405020304" pitchFamily="18" charset="0"/>
              </a:rPr>
              <a:t>, "Design of two axes sun tracking controller with analytically solar radiation calculation", </a:t>
            </a:r>
            <a:r>
              <a:rPr lang="en-US" i="1" dirty="0">
                <a:latin typeface="Times New Roman" panose="02020603050405020304" pitchFamily="18" charset="0"/>
                <a:cs typeface="Times New Roman" panose="02020603050405020304" pitchFamily="18" charset="0"/>
              </a:rPr>
              <a:t>Renewable and Sustainable Energy Reviews</a:t>
            </a:r>
            <a:r>
              <a:rPr lang="en-US" dirty="0">
                <a:latin typeface="Times New Roman" panose="02020603050405020304" pitchFamily="18" charset="0"/>
                <a:cs typeface="Times New Roman" panose="02020603050405020304" pitchFamily="18" charset="0"/>
              </a:rPr>
              <a:t>, vol. 43, pp. 997-1005, Mar. 2015.</a:t>
            </a:r>
            <a:endParaRPr lang="en-IN" dirty="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436915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381837F-45F2-226F-88B2-2F77F027E792}"/>
              </a:ext>
            </a:extLst>
          </p:cNvPr>
          <p:cNvSpPr>
            <a:spLocks noGrp="1"/>
          </p:cNvSpPr>
          <p:nvPr>
            <p:ph type="dt" sz="half" idx="10"/>
          </p:nvPr>
        </p:nvSpPr>
        <p:spPr/>
        <p:txBody>
          <a:bodyPr/>
          <a:lstStyle/>
          <a:p>
            <a:fld id="{1271CAAB-B58F-4ED8-8D4C-2828961969A5}" type="datetime1">
              <a:rPr lang="en-IN" smtClean="0"/>
              <a:t>01-06-2024</a:t>
            </a:fld>
            <a:endParaRPr lang="en-IN" dirty="0"/>
          </a:p>
        </p:txBody>
      </p:sp>
      <p:sp>
        <p:nvSpPr>
          <p:cNvPr id="3" name="Slide Number Placeholder 2">
            <a:extLst>
              <a:ext uri="{FF2B5EF4-FFF2-40B4-BE49-F238E27FC236}">
                <a16:creationId xmlns:a16="http://schemas.microsoft.com/office/drawing/2014/main" xmlns="" id="{C5512394-ABA5-FC4A-8017-D418FB8F0397}"/>
              </a:ext>
            </a:extLst>
          </p:cNvPr>
          <p:cNvSpPr>
            <a:spLocks noGrp="1"/>
          </p:cNvSpPr>
          <p:nvPr>
            <p:ph type="sldNum" sz="quarter" idx="12"/>
          </p:nvPr>
        </p:nvSpPr>
        <p:spPr/>
        <p:txBody>
          <a:bodyPr/>
          <a:lstStyle/>
          <a:p>
            <a:fld id="{9F820D7B-87C6-4583-BB05-745C0A01675C}" type="slidenum">
              <a:rPr lang="en-IN" smtClean="0"/>
              <a:t>16</a:t>
            </a:fld>
            <a:endParaRPr lang="en-IN" dirty="0"/>
          </a:p>
        </p:txBody>
      </p:sp>
      <p:sp>
        <p:nvSpPr>
          <p:cNvPr id="4" name="TextBox 3">
            <a:extLst>
              <a:ext uri="{FF2B5EF4-FFF2-40B4-BE49-F238E27FC236}">
                <a16:creationId xmlns:a16="http://schemas.microsoft.com/office/drawing/2014/main" xmlns="" id="{7D8AAA4E-EF6B-C7CC-DEA9-AFADD55BC6FD}"/>
              </a:ext>
            </a:extLst>
          </p:cNvPr>
          <p:cNvSpPr txBox="1"/>
          <p:nvPr/>
        </p:nvSpPr>
        <p:spPr>
          <a:xfrm>
            <a:off x="467544" y="332656"/>
            <a:ext cx="8280920" cy="4247317"/>
          </a:xfrm>
          <a:prstGeom prst="rect">
            <a:avLst/>
          </a:prstGeom>
          <a:noFill/>
        </p:spPr>
        <p:txBody>
          <a:bodyPr wrap="square" rtlCol="0">
            <a:spAutoFit/>
          </a:bodyPr>
          <a:lstStyle/>
          <a:p>
            <a:pPr algn="just">
              <a:lnSpc>
                <a:spcPct val="150000"/>
              </a:lnSpc>
            </a:pP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8] </a:t>
            </a:r>
            <a:r>
              <a:rPr lang="en-US" b="1" dirty="0">
                <a:latin typeface="Times New Roman" panose="02020603050405020304" pitchFamily="18" charset="0"/>
                <a:cs typeface="Times New Roman" panose="02020603050405020304" pitchFamily="18" charset="0"/>
              </a:rPr>
              <a:t>M. Alam, M. A. Dewan, S. S. Bashar, M. S. Miah and A. Ghosh</a:t>
            </a:r>
            <a:r>
              <a:rPr lang="en-US" dirty="0">
                <a:latin typeface="Times New Roman" panose="02020603050405020304" pitchFamily="18" charset="0"/>
                <a:cs typeface="Times New Roman" panose="02020603050405020304" pitchFamily="18" charset="0"/>
              </a:rPr>
              <a:t>, "A Microcontroller Based Dual Axis Tracking System for Solar Panel", </a:t>
            </a:r>
            <a:r>
              <a:rPr lang="en-US" i="1" dirty="0">
                <a:latin typeface="Times New Roman" panose="02020603050405020304" pitchFamily="18" charset="0"/>
                <a:cs typeface="Times New Roman" panose="02020603050405020304" pitchFamily="18" charset="0"/>
              </a:rPr>
              <a:t>2019 3rd International Conference on Electrical Computer &amp; Telecommunication Engineering (ICECTE)</a:t>
            </a:r>
            <a:r>
              <a:rPr lang="en-US" dirty="0">
                <a:latin typeface="Times New Roman" panose="02020603050405020304" pitchFamily="18" charset="0"/>
                <a:cs typeface="Times New Roman" panose="02020603050405020304" pitchFamily="18" charset="0"/>
              </a:rPr>
              <a:t>, pp. 25-28, 2019.</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[9]</a:t>
            </a:r>
            <a:r>
              <a:rPr lang="en-US" b="1" dirty="0">
                <a:latin typeface="Times New Roman" panose="02020603050405020304" pitchFamily="18" charset="0"/>
                <a:cs typeface="Times New Roman" panose="02020603050405020304" pitchFamily="18" charset="0"/>
              </a:rPr>
              <a:t> M. Nageh, M. P. Abdullah and B. Yousef</a:t>
            </a:r>
            <a:r>
              <a:rPr lang="en-US" dirty="0">
                <a:latin typeface="Times New Roman" panose="02020603050405020304" pitchFamily="18" charset="0"/>
                <a:cs typeface="Times New Roman" panose="02020603050405020304" pitchFamily="18" charset="0"/>
              </a:rPr>
              <a:t>, "Energy Gain between Automatic and Manual Solar Tracking Strategies in Large Scale Solar Photovoltaic System-12 Cities Comparison", </a:t>
            </a:r>
            <a:r>
              <a:rPr lang="en-US" i="1" dirty="0">
                <a:latin typeface="Times New Roman" panose="02020603050405020304" pitchFamily="18" charset="0"/>
                <a:cs typeface="Times New Roman" panose="02020603050405020304" pitchFamily="18" charset="0"/>
              </a:rPr>
              <a:t>2021 IEEE International Conference in Power Engineering Application (ICPEA)</a:t>
            </a:r>
            <a:r>
              <a:rPr lang="en-US" dirty="0">
                <a:latin typeface="Times New Roman" panose="02020603050405020304" pitchFamily="18" charset="0"/>
                <a:cs typeface="Times New Roman" panose="02020603050405020304" pitchFamily="18" charset="0"/>
              </a:rPr>
              <a:t>, pp. 121-126, 2021.</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[10] </a:t>
            </a:r>
            <a:r>
              <a:rPr lang="en-US" b="1" dirty="0">
                <a:latin typeface="Times New Roman" panose="02020603050405020304" pitchFamily="18" charset="0"/>
                <a:cs typeface="Times New Roman" panose="02020603050405020304" pitchFamily="18" charset="0"/>
              </a:rPr>
              <a:t>STANLEY R. BULL</a:t>
            </a:r>
            <a:r>
              <a:rPr lang="en-US" dirty="0">
                <a:latin typeface="Times New Roman" panose="02020603050405020304" pitchFamily="18" charset="0"/>
                <a:cs typeface="Times New Roman" panose="02020603050405020304" pitchFamily="18" charset="0"/>
              </a:rPr>
              <a:t>, “Renewable Energy Today and Tomorrow”, . 8, AUGUST 2001, PROCEEDINGS OF THE IEEE, VOL. 89, NO. </a:t>
            </a:r>
            <a:r>
              <a:rPr lang="en-US" dirty="0" smtClean="0">
                <a:latin typeface="Times New Roman" panose="02020603050405020304" pitchFamily="18" charset="0"/>
                <a:cs typeface="Times New Roman" panose="02020603050405020304" pitchFamily="18" charset="0"/>
              </a:rPr>
              <a:t>8.</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58816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691680" y="2481819"/>
            <a:ext cx="6172200" cy="1894362"/>
          </a:xfrm>
        </p:spPr>
        <p:txBody>
          <a:bodyPr anchor="ctr"/>
          <a:lstStyle/>
          <a:p>
            <a:pPr algn="ctr"/>
            <a:r>
              <a:rPr lang="en-IN" dirty="0">
                <a:latin typeface="Times New Roman" panose="02020603050405020304" pitchFamily="18" charset="0"/>
                <a:cs typeface="Times New Roman" panose="02020603050405020304" pitchFamily="18" charset="0"/>
              </a:rPr>
              <a:t>Thank You !!</a:t>
            </a:r>
          </a:p>
        </p:txBody>
      </p:sp>
      <p:sp>
        <p:nvSpPr>
          <p:cNvPr id="2" name="Date Placeholder 1"/>
          <p:cNvSpPr>
            <a:spLocks noGrp="1"/>
          </p:cNvSpPr>
          <p:nvPr>
            <p:ph type="dt" sz="half" idx="10"/>
          </p:nvPr>
        </p:nvSpPr>
        <p:spPr/>
        <p:txBody>
          <a:bodyPr/>
          <a:lstStyle/>
          <a:p>
            <a:fld id="{0274EDE6-9879-4D5D-A9DA-177EC4AFE0C9}" type="datetime1">
              <a:rPr lang="en-IN" smtClean="0"/>
              <a:t>01-06-2024</a:t>
            </a:fld>
            <a:endParaRPr lang="en-IN" dirty="0"/>
          </a:p>
        </p:txBody>
      </p:sp>
      <p:sp>
        <p:nvSpPr>
          <p:cNvPr id="5" name="Slide Number Placeholder 4"/>
          <p:cNvSpPr>
            <a:spLocks noGrp="1"/>
          </p:cNvSpPr>
          <p:nvPr>
            <p:ph type="sldNum" sz="quarter" idx="12"/>
          </p:nvPr>
        </p:nvSpPr>
        <p:spPr/>
        <p:txBody>
          <a:bodyPr/>
          <a:lstStyle/>
          <a:p>
            <a:fld id="{9F820D7B-87C6-4583-BB05-745C0A01675C}" type="slidenum">
              <a:rPr lang="en-IN" smtClean="0"/>
              <a:t>17</a:t>
            </a:fld>
            <a:endParaRPr lang="en-IN" dirty="0"/>
          </a:p>
        </p:txBody>
      </p:sp>
      <p:pic>
        <p:nvPicPr>
          <p:cNvPr id="11" name="Picture 10"/>
          <p:cNvPicPr>
            <a:picLocks noChangeAspect="1"/>
          </p:cNvPicPr>
          <p:nvPr/>
        </p:nvPicPr>
        <p:blipFill>
          <a:blip r:embed="rId2"/>
          <a:stretch>
            <a:fillRect/>
          </a:stretch>
        </p:blipFill>
        <p:spPr>
          <a:xfrm>
            <a:off x="25327" y="44624"/>
            <a:ext cx="985837" cy="862355"/>
          </a:xfrm>
          <a:prstGeom prst="rect">
            <a:avLst/>
          </a:prstGeom>
          <a:ln>
            <a:solidFill>
              <a:schemeClr val="bg1"/>
            </a:solidFill>
          </a:ln>
        </p:spPr>
      </p:pic>
    </p:spTree>
    <p:extLst>
      <p:ext uri="{BB962C8B-B14F-4D97-AF65-F5344CB8AC3E}">
        <p14:creationId xmlns:p14="http://schemas.microsoft.com/office/powerpoint/2010/main" val="54187409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2261</TotalTime>
  <Words>1575</Words>
  <Application>Microsoft Office PowerPoint</Application>
  <PresentationFormat>On-screen Show (4:3)</PresentationFormat>
  <Paragraphs>158</Paragraphs>
  <Slides>17</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Calibri Light</vt:lpstr>
      <vt:lpstr>Cambria</vt:lpstr>
      <vt:lpstr>Mangal</vt:lpstr>
      <vt:lpstr>Times New Roman</vt:lpstr>
      <vt:lpstr>Wingdings</vt:lpstr>
      <vt:lpstr>Office Theme</vt:lpstr>
      <vt:lpstr>PowerPoint Presentation</vt:lpstr>
      <vt:lpstr>PowerPoint Presentation</vt:lpstr>
      <vt:lpstr>Contents</vt:lpstr>
      <vt:lpstr>Abstract</vt:lpstr>
      <vt:lpstr>Introduction </vt:lpstr>
      <vt:lpstr>Literature Survey</vt:lpstr>
      <vt:lpstr>PowerPoint Presentation</vt:lpstr>
      <vt:lpstr>Circuit Diagram</vt:lpstr>
      <vt:lpstr>PowerPoint Presentation</vt:lpstr>
      <vt:lpstr>PowerPoint Presentation</vt:lpstr>
      <vt:lpstr>Current Implementation</vt:lpstr>
      <vt:lpstr>Conclusion </vt:lpstr>
      <vt:lpstr>Future scope </vt:lpstr>
      <vt:lpstr>References </vt:lpstr>
      <vt:lpstr>PowerPoint Presentation</vt:lpstr>
      <vt:lpstr>PowerPoint Presentation</vt:lpstr>
      <vt:lpstr>Thank You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Microsoft account</cp:lastModifiedBy>
  <cp:revision>70</cp:revision>
  <dcterms:created xsi:type="dcterms:W3CDTF">2023-02-24T09:49:23Z</dcterms:created>
  <dcterms:modified xsi:type="dcterms:W3CDTF">2024-06-01T17:45:03Z</dcterms:modified>
</cp:coreProperties>
</file>